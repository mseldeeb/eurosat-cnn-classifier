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f8ffe5e-6db9-76b9-ae39-ce8468b09bb7}">
          <p14:sldIdLst>
            <p14:sldId id="256"/>
            <p14:sldId id="257"/>
            <p14:sldId id="258"/>
          </p14:sldIdLst>
        </p14:section>
        <p14:section name="Data" id="{d5dc4fac-3a68-cef7-d4c5-b609f79dd80e}">
          <p14:sldIdLst>
            <p14:sldId id="259"/>
            <p14:sldId id="260"/>
          </p14:sldIdLst>
        </p14:section>
        <p14:section name="Method" id="{7a0d3904-6272-581a-b4a6-0be4ed1a4a63}">
          <p14:sldIdLst>
            <p14:sldId id="261"/>
            <p14:sldId id="262"/>
            <p14:sldId id="263"/>
          </p14:sldIdLst>
        </p14:section>
        <p14:section name="Results" id="{34ada7e5-0b85-ac65-8e84-15c5b98201ce}">
          <p14:sldIdLst>
            <p14:sldId id="264"/>
            <p14:sldId id="265"/>
          </p14:sldIdLst>
        </p14:section>
        <p14:section name="Wrap-up" id="{921f6386-2b27-9f14-1391-a1218a24135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2E"/>
                </a:solidFill>
                <a:latin typeface="+mn-lt"/>
              </a:defRPr>
            </a:pPr>
            <a:r>
              <a:rPr sz="1300" b="0" i="0" u="none" strike="noStrike">
                <a:solidFill>
                  <a:srgbClr val="16262E"/>
                </a:solidFill>
                <a:latin typeface="+mn-lt"/>
              </a:rPr>
              <a:t>Images per class</a:t>
            </a:r>
          </a:p>
        </c:rich>
      </c:tx>
      <c:layout/>
      <c:overlay val="0"/>
    </c:title>
    <c:autoTitleDeleted val="0"/>
    <c:plotArea>
      <c:layout/>
      <c:barChart>
        <c:barDir val="bar"/>
        <c:grouping val="clustered"/>
        <c:varyColors val="0"/>
        <c:ser>
          <c:idx val="0"/>
          <c:order val="0"/>
          <c:tx>
            <c:strRef>
              <c:f>Sheet1!$B$1</c:f>
              <c:strCache>
                <c:ptCount val="1"/>
                <c:pt idx="0">
                  <c:v>Images</c:v>
                </c:pt>
              </c:strCache>
            </c:strRef>
          </c:tx>
          <c:spPr>
            <a:solidFill>
              <a:srgbClr val="2F7F6F"/>
            </a:solidFill>
            <a:effectLst/>
          </c:spPr>
          <c:invertIfNegative val="0"/>
          <c:dLbls>
            <c:numFmt formatCode="#,##0" sourceLinked="0"/>
            <c:txPr>
              <a:bodyPr/>
              <a:lstStyle/>
              <a:p>
                <a:pPr>
                  <a:defRPr b="0" i="0" strike="noStrike" sz="900" u="none">
                    <a:solidFill>
                      <a:srgbClr val="3D4F57"/>
                    </a:solidFill>
                    <a:latin typeface="+mn-lt"/>
                  </a:defRPr>
                </a:pPr>
              </a:p>
            </c:txPr>
            <c:showLegendKey val="0"/>
            <c:showVal val="1"/>
            <c:showCatName val="0"/>
            <c:showSerName val="0"/>
            <c:showPercent val="0"/>
            <c:showBubbleSize val="0"/>
            <c:showLeaderLines val="0"/>
          </c:dLbls>
          <c:cat>
            <c:multiLvlStrRef>
              <c:f>Sheet1!$A$2:$A$11</c:f>
              <c:multiLvlStrCache>
                <c:ptCount val="10"/>
                <c:lvl>
                  <c:pt idx="0">
                    <c:v>Annual crop</c:v>
                  </c:pt>
                  <c:pt idx="1">
                    <c:v>Forest</c:v>
                  </c:pt>
                  <c:pt idx="2">
                    <c:v>Herbaceous veg.</c:v>
                  </c:pt>
                  <c:pt idx="3">
                    <c:v>Highway</c:v>
                  </c:pt>
                  <c:pt idx="4">
                    <c:v>Industrial</c:v>
                  </c:pt>
                  <c:pt idx="5">
                    <c:v>Pasture</c:v>
                  </c:pt>
                  <c:pt idx="6">
                    <c:v>Permanent crop</c:v>
                  </c:pt>
                  <c:pt idx="7">
                    <c:v>Residential</c:v>
                  </c:pt>
                  <c:pt idx="8">
                    <c:v>River</c:v>
                  </c:pt>
                  <c:pt idx="9">
                    <c:v>Sea / lake</c:v>
                  </c:pt>
                </c:lvl>
              </c:multiLvlStrCache>
            </c:multiLvlStrRef>
          </c:cat>
          <c:val>
            <c:numRef>
              <c:f>Sheet1!$B$2:$B$11</c:f>
              <c:numCache>
                <c:formatCode>General</c:formatCode>
                <c:ptCount val="10"/>
                <c:pt idx="0">
                  <c:v>3000</c:v>
                </c:pt>
                <c:pt idx="1">
                  <c:v>3000</c:v>
                </c:pt>
                <c:pt idx="2">
                  <c:v>3000</c:v>
                </c:pt>
                <c:pt idx="3">
                  <c:v>2500</c:v>
                </c:pt>
                <c:pt idx="4">
                  <c:v>2500</c:v>
                </c:pt>
                <c:pt idx="5">
                  <c:v>2000</c:v>
                </c:pt>
                <c:pt idx="6">
                  <c:v>2500</c:v>
                </c:pt>
                <c:pt idx="7">
                  <c:v>3000</c:v>
                </c:pt>
                <c:pt idx="8">
                  <c:v>2500</c:v>
                </c:pt>
                <c:pt idx="9">
                  <c:v>3000</c:v>
                </c:pt>
              </c:numCache>
            </c:numRef>
          </c:val>
        </c:ser>
        <c:dLbls>
          <c:numFmt formatCode="#,##0" sourceLinked="0"/>
          <c:txPr>
            <a:bodyPr/>
            <a:lstStyle/>
            <a:p>
              <a:pPr>
                <a:defRPr b="0" i="0" strike="noStrike" sz="900" u="none">
                  <a:solidFill>
                    <a:srgbClr val="3D4F5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D4F57"/>
                </a:solidFill>
                <a:latin typeface="+mn-lt"/>
              </a:defRPr>
            </a:pPr>
            <a:endParaRPr lang="en-US"/>
          </a:p>
        </c:txPr>
        <c:crossAx val="2094734552"/>
        <c:crosses val="autoZero"/>
        <c:auto val="1"/>
        <c:lblAlgn val="ctr"/>
        <c:noMultiLvlLbl val="1"/>
      </c:catAx>
      <c:valAx>
        <c:axId val="2094734552"/>
        <c:scaling>
          <c:orientation val="minMax"/>
          <c:max val="35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2E"/>
                </a:solidFill>
                <a:latin typeface="+mn-lt"/>
              </a:defRPr>
            </a:pPr>
            <a:r>
              <a:rPr sz="1300" b="0" i="0" u="none" strike="noStrike">
                <a:solidFill>
                  <a:srgbClr val="16262E"/>
                </a:solidFill>
                <a:latin typeface="+mn-lt"/>
              </a:rPr>
              <a:t>Score per class (F1, %)</a:t>
            </a:r>
          </a:p>
        </c:rich>
      </c:tx>
      <c:layout/>
      <c:overlay val="0"/>
    </c:title>
    <c:autoTitleDeleted val="0"/>
    <c:plotArea>
      <c:layout/>
      <c:barChart>
        <c:barDir val="bar"/>
        <c:grouping val="clustered"/>
        <c:varyColors val="0"/>
        <c:ser>
          <c:idx val="0"/>
          <c:order val="0"/>
          <c:tx>
            <c:strRef>
              <c:f>Sheet1!$B$1</c:f>
              <c:strCache>
                <c:ptCount val="1"/>
                <c:pt idx="0">
                  <c:v>Baseline</c:v>
                </c:pt>
              </c:strCache>
            </c:strRef>
          </c:tx>
          <c:spPr>
            <a:solidFill>
              <a:srgbClr val="8A959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Annual crop</c:v>
                  </c:pt>
                  <c:pt idx="1">
                    <c:v>Forest</c:v>
                  </c:pt>
                  <c:pt idx="2">
                    <c:v>Herbaceous veg.</c:v>
                  </c:pt>
                  <c:pt idx="3">
                    <c:v>Highway</c:v>
                  </c:pt>
                  <c:pt idx="4">
                    <c:v>Industrial</c:v>
                  </c:pt>
                  <c:pt idx="5">
                    <c:v>Pasture</c:v>
                  </c:pt>
                  <c:pt idx="6">
                    <c:v>Permanent crop</c:v>
                  </c:pt>
                  <c:pt idx="7">
                    <c:v>Residential</c:v>
                  </c:pt>
                  <c:pt idx="8">
                    <c:v>River</c:v>
                  </c:pt>
                  <c:pt idx="9">
                    <c:v>Sea / lake</c:v>
                  </c:pt>
                </c:lvl>
              </c:multiLvlStrCache>
            </c:multiLvlStrRef>
          </c:cat>
          <c:val>
            <c:numRef>
              <c:f>Sheet1!$B$2:$B$11</c:f>
              <c:numCache>
                <c:formatCode>General</c:formatCode>
                <c:ptCount val="10"/>
                <c:pt idx="0">
                  <c:v>75</c:v>
                </c:pt>
                <c:pt idx="1">
                  <c:v>75</c:v>
                </c:pt>
                <c:pt idx="2">
                  <c:v>75</c:v>
                </c:pt>
                <c:pt idx="3">
                  <c:v>75</c:v>
                </c:pt>
                <c:pt idx="4">
                  <c:v>75</c:v>
                </c:pt>
                <c:pt idx="5">
                  <c:v>75</c:v>
                </c:pt>
                <c:pt idx="6">
                  <c:v>75</c:v>
                </c:pt>
                <c:pt idx="7">
                  <c:v>75</c:v>
                </c:pt>
                <c:pt idx="8">
                  <c:v>75</c:v>
                </c:pt>
                <c:pt idx="9">
                  <c:v>75</c:v>
                </c:pt>
              </c:numCache>
            </c:numRef>
          </c:val>
        </c:ser>
        <c:ser>
          <c:idx val="1"/>
          <c:order val="1"/>
          <c:tx>
            <c:strRef>
              <c:f>Sheet1!$C$1</c:f>
              <c:strCache>
                <c:ptCount val="1"/>
                <c:pt idx="0">
                  <c:v>Improved</c:v>
                </c:pt>
              </c:strCache>
            </c:strRef>
          </c:tx>
          <c:spPr>
            <a:solidFill>
              <a:srgbClr val="2F7F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Annual crop</c:v>
                  </c:pt>
                  <c:pt idx="1">
                    <c:v>Forest</c:v>
                  </c:pt>
                  <c:pt idx="2">
                    <c:v>Herbaceous veg.</c:v>
                  </c:pt>
                  <c:pt idx="3">
                    <c:v>Highway</c:v>
                  </c:pt>
                  <c:pt idx="4">
                    <c:v>Industrial</c:v>
                  </c:pt>
                  <c:pt idx="5">
                    <c:v>Pasture</c:v>
                  </c:pt>
                  <c:pt idx="6">
                    <c:v>Permanent crop</c:v>
                  </c:pt>
                  <c:pt idx="7">
                    <c:v>Residential</c:v>
                  </c:pt>
                  <c:pt idx="8">
                    <c:v>River</c:v>
                  </c:pt>
                  <c:pt idx="9">
                    <c:v>Sea / lake</c:v>
                  </c:pt>
                </c:lvl>
              </c:multiLvlStrCache>
            </c:multiLvlStrRef>
          </c:cat>
          <c:val>
            <c:numRef>
              <c:f>Sheet1!$C$2:$C$11</c:f>
              <c:numCache>
                <c:formatCode>General</c:formatCode>
                <c:ptCount val="10"/>
                <c:pt idx="0">
                  <c:v>90</c:v>
                </c:pt>
                <c:pt idx="1">
                  <c:v>90</c:v>
                </c:pt>
                <c:pt idx="2">
                  <c:v>90</c:v>
                </c:pt>
                <c:pt idx="3">
                  <c:v>90</c:v>
                </c:pt>
                <c:pt idx="4">
                  <c:v>90</c:v>
                </c:pt>
                <c:pt idx="5">
                  <c:v>90</c:v>
                </c:pt>
                <c:pt idx="6">
                  <c:v>90</c:v>
                </c:pt>
                <c:pt idx="7">
                  <c:v>90</c:v>
                </c:pt>
                <c:pt idx="8">
                  <c:v>90</c:v>
                </c:pt>
                <c:pt idx="9">
                  <c:v>90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3D4F57"/>
                </a:solidFill>
                <a:latin typeface="+mn-lt"/>
              </a:defRPr>
            </a:pPr>
            <a:endParaRPr lang="en-US"/>
          </a:p>
        </c:txPr>
        <c:crossAx val="2094734552"/>
        <c:crosses val="autoZero"/>
        <c:auto val="1"/>
        <c:lblAlgn val="ctr"/>
        <c:noMultiLvlLbl val="1"/>
      </c:catAx>
      <c:valAx>
        <c:axId val="2094734552"/>
        <c:scaling>
          <c:orientation val="minMax"/>
          <c:max val="100"/>
          <c:min val="40"/>
        </c:scaling>
        <c:delete val="0"/>
        <c:axPos val="b"/>
        <c:majorGridlines>
          <c:spPr>
            <a:ln w="6350" cap="flat">
              <a:solidFill>
                <a:srgbClr val="DDE3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59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D4F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teaches a computer to look at a small satellite photo and say what kind of land it shows: a forest, a river, a city, a field. The mosaic on the right is made of real images from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example of each of the ten categories. Some are easy for us, like the blue sea. Others, like pasture versus herbaceous vegetation, are hard even for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photograph the whole of Europe every few days. Nobody can look at all those images by hand, so automatic classification is what makes this data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EuroSAT was built by researchers from free images taken by the European Sentinel-2 satellite. Every image was labelled with what it shows. The classes are fairly balanced: the biggest class has only one and a half times as many images as the smallest.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EuroSAT for four reasons. It is real data. It is balanced, so accuracy is an honest measure. It is small enough to train without a GPU. And because it is a public benchmark, I can check my results against other people's.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convolutional neural network works in stages. Early layers detect simple things like edges. Later layers combine them into more meaningful patterns. The last layer turns all of that into a probability for each class. Nobody programs these filters; the network learns them from the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student, a model can memorise its practice questions. So I keep 15 percent of the images completely hidden and only use them once, at the end. That final score is the honest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always start with a simple model to get a baseline. The improved model is deeper, but it actually has fewer parameters. The key trick is data augmentation: I show the model rotated and mirrored copies of each image, because a forest is still a forest when you turn the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images it had never seen, the simple model scored {{BASELINE_ACC}} and the improved model {{IMPROVED_ACC}}. The chart shows the score for each class. F1 combines how often the model is right when it names a class with how many of that class it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mistakes is the most useful part of the analysis. Most errors are between classes that genuinely look alike from 640 metres up, and some images are ambiguous even for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lessons were about process: start with a baseline, use what you know about the data, and test honestly. There are clear next steps that would push the accuracy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on GitHub, so anyone can rerun the experiment and get the same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480560" cy="17373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3108960"/>
            <a:ext cx="4480560" cy="118872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chemeClr val="tx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194560"/>
            <a:ext cx="8046720" cy="21945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atellite mosaic" descr="/home/claude/deck/img/mosaic.png">    </p:cNvPr>
          <p:cNvPicPr>
            <a:picLocks noChangeAspect="1"/>
          </p:cNvPicPr>
          <p:nvPr/>
        </p:nvPicPr>
        <p:blipFill>
          <a:blip r:embed="rId1"/>
          <a:srcRect l="0" r="0" t="0" b="0"/>
          <a:stretch/>
        </p:blipFill>
        <p:spPr>
          <a:xfrm>
            <a:off x="5394960" y="0"/>
            <a:ext cx="3749040" cy="5143500"/>
          </a:xfrm>
          <a:prstGeom prst="rect">
            <a:avLst/>
          </a:prstGeom>
        </p:spPr>
      </p:pic>
      <p:sp>
        <p:nvSpPr>
          <p:cNvPr id="3" name="Text 0"/>
          <p:cNvSpPr/>
          <p:nvPr>
            <p:ph idx="100" type="title" hasCustomPrompt="1"/>
          </p:nvPr>
        </p:nvSpPr>
        <p:spPr>
          <a:xfrm>
            <a:off x="548640" y="1234440"/>
            <a:ext cx="4480560" cy="173736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Teaching a computer to read satellite images</a:t>
            </a:r>
            <a:endParaRPr lang="en-US" sz="3600" dirty="0"/>
          </a:p>
        </p:txBody>
      </p:sp>
      <p:sp>
        <p:nvSpPr>
          <p:cNvPr id="4" name="Text 0"/>
          <p:cNvSpPr/>
          <p:nvPr>
            <p:ph idx="101" type="body" hasCustomPrompt="1"/>
          </p:nvPr>
        </p:nvSpPr>
        <p:spPr>
          <a:xfrm>
            <a:off x="548640" y="3108960"/>
            <a:ext cx="4480560" cy="1188720"/>
          </a:xfrm>
          <a:prstGeom prst="rect">
            <a:avLst/>
          </a:prstGeom>
          <a:noFill/>
          <a:ln/>
        </p:spPr>
        <p:txBody>
          <a:bodyPr wrap="square" lIns="0" tIns="0" rIns="0" bIns="0" rtlCol="0" anchor="t"/>
          <a:lstStyle/>
          <a:p>
            <a:pPr indent="0" marL="0">
              <a:buNone/>
            </a:pPr>
            <a:r>
              <a:rPr lang="en-US" sz="1600" dirty="0">
                <a:solidFill>
                  <a:schemeClr val="accent1"/>
                </a:solidFill>
              </a:rPr>
              <a:t>Land-use classification with convolutional neural networks</a:t>
            </a:r>
            <a:endParaRPr lang="en-US" sz="1600" dirty="0"/>
          </a:p>
          <a:p>
            <a:pPr indent="0" marL="0">
              <a:buNone/>
            </a:pPr>
            <a:r>
              <a:rPr lang="en-US" sz="1300" dirty="0">
                <a:solidFill>
                  <a:schemeClr val="bg2"/>
                </a:solidFill>
              </a:rPr>
              <a:t>Mohamed Sabry Eldeeb, PhD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What is on this piece of land?</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Each image shows a 640 m × 640 m square of Europe, photographed from space. The computer must give it one of ten labels.</a:t>
            </a:r>
            <a:endParaRPr lang="en-US" sz="1500" dirty="0"/>
          </a:p>
        </p:txBody>
      </p:sp>
      <p:pic>
        <p:nvPicPr>
          <p:cNvPr id="4" name="Tile AnnualCrop" descr="/home/claude/deck/img/AnnualCrop.png">    </p:cNvPr>
          <p:cNvPicPr>
            <a:picLocks noChangeAspect="1"/>
          </p:cNvPicPr>
          <p:nvPr/>
        </p:nvPicPr>
        <p:blipFill>
          <a:blip r:embed="rId1"/>
          <a:stretch>
            <a:fillRect/>
          </a:stretch>
        </p:blipFill>
        <p:spPr>
          <a:xfrm>
            <a:off x="457200" y="1691640"/>
            <a:ext cx="1188720" cy="1188720"/>
          </a:xfrm>
          <a:prstGeom prst="rect">
            <a:avLst/>
          </a:prstGeom>
        </p:spPr>
      </p:pic>
      <p:sp>
        <p:nvSpPr>
          <p:cNvPr id="5" name="Text 2"/>
          <p:cNvSpPr txBox="1"/>
          <p:nvPr/>
        </p:nvSpPr>
        <p:spPr>
          <a:xfrm>
            <a:off x="457200" y="29077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Annual crop</a:t>
            </a:r>
            <a:endParaRPr lang="en-US" sz="1100" dirty="0"/>
          </a:p>
        </p:txBody>
      </p:sp>
      <p:pic>
        <p:nvPicPr>
          <p:cNvPr id="6" name="Tile Forest" descr="/home/claude/deck/img/Forest.png">    </p:cNvPr>
          <p:cNvPicPr>
            <a:picLocks noChangeAspect="1"/>
          </p:cNvPicPr>
          <p:nvPr/>
        </p:nvPicPr>
        <p:blipFill>
          <a:blip r:embed="rId2"/>
          <a:stretch>
            <a:fillRect/>
          </a:stretch>
        </p:blipFill>
        <p:spPr>
          <a:xfrm>
            <a:off x="2185416" y="1691640"/>
            <a:ext cx="1188720" cy="1188720"/>
          </a:xfrm>
          <a:prstGeom prst="rect">
            <a:avLst/>
          </a:prstGeom>
        </p:spPr>
      </p:pic>
      <p:sp>
        <p:nvSpPr>
          <p:cNvPr id="7" name="Text 3"/>
          <p:cNvSpPr txBox="1"/>
          <p:nvPr/>
        </p:nvSpPr>
        <p:spPr>
          <a:xfrm>
            <a:off x="2185416" y="29077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Forest</a:t>
            </a:r>
            <a:endParaRPr lang="en-US" sz="1100" dirty="0"/>
          </a:p>
        </p:txBody>
      </p:sp>
      <p:pic>
        <p:nvPicPr>
          <p:cNvPr id="8" name="Tile HerbaceousVegetation" descr="/home/claude/deck/img/HerbaceousVegetation.png">    </p:cNvPr>
          <p:cNvPicPr>
            <a:picLocks noChangeAspect="1"/>
          </p:cNvPicPr>
          <p:nvPr/>
        </p:nvPicPr>
        <p:blipFill>
          <a:blip r:embed="rId3"/>
          <a:stretch>
            <a:fillRect/>
          </a:stretch>
        </p:blipFill>
        <p:spPr>
          <a:xfrm>
            <a:off x="3913632" y="1691640"/>
            <a:ext cx="1188720" cy="1188720"/>
          </a:xfrm>
          <a:prstGeom prst="rect">
            <a:avLst/>
          </a:prstGeom>
        </p:spPr>
      </p:pic>
      <p:sp>
        <p:nvSpPr>
          <p:cNvPr id="9" name="Text 4"/>
          <p:cNvSpPr txBox="1"/>
          <p:nvPr/>
        </p:nvSpPr>
        <p:spPr>
          <a:xfrm>
            <a:off x="3913632" y="29077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Herbaceous veg.</a:t>
            </a:r>
            <a:endParaRPr lang="en-US" sz="1100" dirty="0"/>
          </a:p>
        </p:txBody>
      </p:sp>
      <p:pic>
        <p:nvPicPr>
          <p:cNvPr id="10" name="Tile Highway" descr="/home/claude/deck/img/Highway.png">    </p:cNvPr>
          <p:cNvPicPr>
            <a:picLocks noChangeAspect="1"/>
          </p:cNvPicPr>
          <p:nvPr/>
        </p:nvPicPr>
        <p:blipFill>
          <a:blip r:embed="rId4"/>
          <a:stretch>
            <a:fillRect/>
          </a:stretch>
        </p:blipFill>
        <p:spPr>
          <a:xfrm>
            <a:off x="5641848" y="1691640"/>
            <a:ext cx="1188720" cy="1188720"/>
          </a:xfrm>
          <a:prstGeom prst="rect">
            <a:avLst/>
          </a:prstGeom>
        </p:spPr>
      </p:pic>
      <p:sp>
        <p:nvSpPr>
          <p:cNvPr id="11" name="Text 5"/>
          <p:cNvSpPr txBox="1"/>
          <p:nvPr/>
        </p:nvSpPr>
        <p:spPr>
          <a:xfrm>
            <a:off x="5641848" y="29077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Highway</a:t>
            </a:r>
            <a:endParaRPr lang="en-US" sz="1100" dirty="0"/>
          </a:p>
        </p:txBody>
      </p:sp>
      <p:pic>
        <p:nvPicPr>
          <p:cNvPr id="12" name="Tile Industrial" descr="/home/claude/deck/img/Industrial.png">    </p:cNvPr>
          <p:cNvPicPr>
            <a:picLocks noChangeAspect="1"/>
          </p:cNvPicPr>
          <p:nvPr/>
        </p:nvPicPr>
        <p:blipFill>
          <a:blip r:embed="rId5"/>
          <a:stretch>
            <a:fillRect/>
          </a:stretch>
        </p:blipFill>
        <p:spPr>
          <a:xfrm>
            <a:off x="7370064" y="1691640"/>
            <a:ext cx="1188720" cy="1188720"/>
          </a:xfrm>
          <a:prstGeom prst="rect">
            <a:avLst/>
          </a:prstGeom>
        </p:spPr>
      </p:pic>
      <p:sp>
        <p:nvSpPr>
          <p:cNvPr id="13" name="Text 6"/>
          <p:cNvSpPr txBox="1"/>
          <p:nvPr/>
        </p:nvSpPr>
        <p:spPr>
          <a:xfrm>
            <a:off x="7370064" y="29077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Industrial</a:t>
            </a:r>
            <a:endParaRPr lang="en-US" sz="1100" dirty="0"/>
          </a:p>
        </p:txBody>
      </p:sp>
      <p:pic>
        <p:nvPicPr>
          <p:cNvPr id="14" name="Tile Pasture" descr="/home/claude/deck/img/Pasture.png">    </p:cNvPr>
          <p:cNvPicPr>
            <a:picLocks noChangeAspect="1"/>
          </p:cNvPicPr>
          <p:nvPr/>
        </p:nvPicPr>
        <p:blipFill>
          <a:blip r:embed="rId6"/>
          <a:stretch>
            <a:fillRect/>
          </a:stretch>
        </p:blipFill>
        <p:spPr>
          <a:xfrm>
            <a:off x="457200" y="3291840"/>
            <a:ext cx="1188720" cy="1188720"/>
          </a:xfrm>
          <a:prstGeom prst="rect">
            <a:avLst/>
          </a:prstGeom>
        </p:spPr>
      </p:pic>
      <p:sp>
        <p:nvSpPr>
          <p:cNvPr id="15" name="Text 7"/>
          <p:cNvSpPr txBox="1"/>
          <p:nvPr/>
        </p:nvSpPr>
        <p:spPr>
          <a:xfrm>
            <a:off x="457200" y="45079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Pasture</a:t>
            </a:r>
            <a:endParaRPr lang="en-US" sz="1100" dirty="0"/>
          </a:p>
        </p:txBody>
      </p:sp>
      <p:pic>
        <p:nvPicPr>
          <p:cNvPr id="16" name="Tile PermanentCrop" descr="/home/claude/deck/img/PermanentCrop.png">    </p:cNvPr>
          <p:cNvPicPr>
            <a:picLocks noChangeAspect="1"/>
          </p:cNvPicPr>
          <p:nvPr/>
        </p:nvPicPr>
        <p:blipFill>
          <a:blip r:embed="rId7"/>
          <a:stretch>
            <a:fillRect/>
          </a:stretch>
        </p:blipFill>
        <p:spPr>
          <a:xfrm>
            <a:off x="2185416" y="3291840"/>
            <a:ext cx="1188720" cy="1188720"/>
          </a:xfrm>
          <a:prstGeom prst="rect">
            <a:avLst/>
          </a:prstGeom>
        </p:spPr>
      </p:pic>
      <p:sp>
        <p:nvSpPr>
          <p:cNvPr id="17" name="Text 8"/>
          <p:cNvSpPr txBox="1"/>
          <p:nvPr/>
        </p:nvSpPr>
        <p:spPr>
          <a:xfrm>
            <a:off x="2185416" y="45079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Permanent crop</a:t>
            </a:r>
            <a:endParaRPr lang="en-US" sz="1100" dirty="0"/>
          </a:p>
        </p:txBody>
      </p:sp>
      <p:pic>
        <p:nvPicPr>
          <p:cNvPr id="18" name="Tile Residential" descr="/home/claude/deck/img/Residential.png">    </p:cNvPr>
          <p:cNvPicPr>
            <a:picLocks noChangeAspect="1"/>
          </p:cNvPicPr>
          <p:nvPr/>
        </p:nvPicPr>
        <p:blipFill>
          <a:blip r:embed="rId8"/>
          <a:stretch>
            <a:fillRect/>
          </a:stretch>
        </p:blipFill>
        <p:spPr>
          <a:xfrm>
            <a:off x="3913632" y="3291840"/>
            <a:ext cx="1188720" cy="1188720"/>
          </a:xfrm>
          <a:prstGeom prst="rect">
            <a:avLst/>
          </a:prstGeom>
        </p:spPr>
      </p:pic>
      <p:sp>
        <p:nvSpPr>
          <p:cNvPr id="19" name="Text 9"/>
          <p:cNvSpPr txBox="1"/>
          <p:nvPr/>
        </p:nvSpPr>
        <p:spPr>
          <a:xfrm>
            <a:off x="3913632" y="45079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Residential</a:t>
            </a:r>
            <a:endParaRPr lang="en-US" sz="1100" dirty="0"/>
          </a:p>
        </p:txBody>
      </p:sp>
      <p:pic>
        <p:nvPicPr>
          <p:cNvPr id="20" name="Tile River" descr="/home/claude/deck/img/River.png">    </p:cNvPr>
          <p:cNvPicPr>
            <a:picLocks noChangeAspect="1"/>
          </p:cNvPicPr>
          <p:nvPr/>
        </p:nvPicPr>
        <p:blipFill>
          <a:blip r:embed="rId9"/>
          <a:stretch>
            <a:fillRect/>
          </a:stretch>
        </p:blipFill>
        <p:spPr>
          <a:xfrm>
            <a:off x="5641848" y="3291840"/>
            <a:ext cx="1188720" cy="1188720"/>
          </a:xfrm>
          <a:prstGeom prst="rect">
            <a:avLst/>
          </a:prstGeom>
        </p:spPr>
      </p:pic>
      <p:sp>
        <p:nvSpPr>
          <p:cNvPr id="21" name="Text 10"/>
          <p:cNvSpPr txBox="1"/>
          <p:nvPr/>
        </p:nvSpPr>
        <p:spPr>
          <a:xfrm>
            <a:off x="5641848" y="45079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River</a:t>
            </a:r>
            <a:endParaRPr lang="en-US" sz="1100" dirty="0"/>
          </a:p>
        </p:txBody>
      </p:sp>
      <p:pic>
        <p:nvPicPr>
          <p:cNvPr id="22" name="Tile SeaLake" descr="/home/claude/deck/img/SeaLake.png">    </p:cNvPr>
          <p:cNvPicPr>
            <a:picLocks noChangeAspect="1"/>
          </p:cNvPicPr>
          <p:nvPr/>
        </p:nvPicPr>
        <p:blipFill>
          <a:blip r:embed="rId10"/>
          <a:stretch>
            <a:fillRect/>
          </a:stretch>
        </p:blipFill>
        <p:spPr>
          <a:xfrm>
            <a:off x="7370064" y="3291840"/>
            <a:ext cx="1188720" cy="1188720"/>
          </a:xfrm>
          <a:prstGeom prst="rect">
            <a:avLst/>
          </a:prstGeom>
        </p:spPr>
      </p:pic>
      <p:sp>
        <p:nvSpPr>
          <p:cNvPr id="23" name="Text 11"/>
          <p:cNvSpPr txBox="1"/>
          <p:nvPr/>
        </p:nvSpPr>
        <p:spPr>
          <a:xfrm>
            <a:off x="7370064" y="4507992"/>
            <a:ext cx="1508760" cy="274320"/>
          </a:xfrm>
          <a:prstGeom prst="rect">
            <a:avLst/>
          </a:prstGeom>
          <a:noFill/>
          <a:ln/>
        </p:spPr>
        <p:txBody>
          <a:bodyPr wrap="square" lIns="0" tIns="0" rIns="0" bIns="0" rtlCol="0" anchor="t"/>
          <a:lstStyle/>
          <a:p>
            <a:pPr indent="0" marL="0">
              <a:buNone/>
            </a:pPr>
            <a:r>
              <a:rPr lang="en-US" sz="1100" b="1" dirty="0">
                <a:solidFill>
                  <a:schemeClr val="tx1"/>
                </a:solidFill>
                <a:latin typeface="Calibri" pitchFamily="34" charset="0"/>
                <a:ea typeface="Calibri" pitchFamily="34" charset="-122"/>
                <a:cs typeface="Calibri" pitchFamily="34" charset="-120"/>
              </a:rPr>
              <a:t>Sea / lake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Why this matters</a:t>
            </a:r>
            <a:endParaRPr lang="en-US" sz="2800" dirty="0"/>
          </a:p>
        </p:txBody>
      </p:sp>
      <p:sp>
        <p:nvSpPr>
          <p:cNvPr id="3" name="Use case City planning"/>
          <p:cNvSpPr/>
          <p:nvPr/>
        </p:nvSpPr>
        <p:spPr>
          <a:xfrm>
            <a:off x="457200" y="1280160"/>
            <a:ext cx="1874520" cy="3017520"/>
          </a:xfrm>
          <a:prstGeom prst="roundRect">
            <a:avLst>
              <a:gd name="adj" fmla="val 3902"/>
            </a:avLst>
          </a:prstGeom>
          <a:solidFill>
            <a:schemeClr val="bg2"/>
          </a:solidFill>
          <a:ln w="12700">
            <a:solidFill>
              <a:schemeClr val="bg2"/>
            </a:solidFill>
            <a:prstDash val="solid"/>
          </a:ln>
        </p:spPr>
      </p:sp>
      <p:sp>
        <p:nvSpPr>
          <p:cNvPr id="4" name="Icon circle City planning"/>
          <p:cNvSpPr/>
          <p:nvPr/>
        </p:nvSpPr>
        <p:spPr>
          <a:xfrm>
            <a:off x="1051560" y="1554480"/>
            <a:ext cx="685800" cy="685800"/>
          </a:xfrm>
          <a:prstGeom prst="ellipse">
            <a:avLst/>
          </a:prstGeom>
          <a:solidFill>
            <a:schemeClr val="accent2"/>
          </a:solidFill>
          <a:ln w="12700">
            <a:solidFill>
              <a:schemeClr val="accent2"/>
            </a:solidFill>
            <a:prstDash val="solid"/>
          </a:ln>
        </p:spPr>
      </p:sp>
      <p:pic>
        <p:nvPicPr>
          <p:cNvPr id="5" name="Icon City planning" descr="preencoded.png">    </p:cNvPr>
          <p:cNvPicPr>
            <a:picLocks noChangeAspect="1"/>
          </p:cNvPicPr>
          <p:nvPr/>
        </p:nvPicPr>
        <p:blipFill>
          <a:blip r:embed="rId1"/>
          <a:stretch>
            <a:fillRect/>
          </a:stretch>
        </p:blipFill>
        <p:spPr>
          <a:xfrm>
            <a:off x="1207008" y="1709928"/>
            <a:ext cx="374904" cy="374904"/>
          </a:xfrm>
          <a:prstGeom prst="rect">
            <a:avLst/>
          </a:prstGeom>
        </p:spPr>
      </p:pic>
      <p:sp>
        <p:nvSpPr>
          <p:cNvPr id="6" name="Text 3"/>
          <p:cNvSpPr txBox="1"/>
          <p:nvPr/>
        </p:nvSpPr>
        <p:spPr>
          <a:xfrm>
            <a:off x="640080" y="246888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City planning</a:t>
            </a:r>
            <a:endParaRPr lang="en-US" sz="1600" dirty="0"/>
          </a:p>
        </p:txBody>
      </p:sp>
      <p:sp>
        <p:nvSpPr>
          <p:cNvPr id="7" name="Text 4"/>
          <p:cNvSpPr txBox="1"/>
          <p:nvPr/>
        </p:nvSpPr>
        <p:spPr>
          <a:xfrm>
            <a:off x="640080" y="2880360"/>
            <a:ext cx="1508760" cy="1188720"/>
          </a:xfrm>
          <a:prstGeom prst="rect">
            <a:avLst/>
          </a:prstGeom>
          <a:noFill/>
          <a:ln/>
        </p:spPr>
        <p:txBody>
          <a:bodyPr wrap="square" lIns="0" tIns="0" rIns="0" bIns="0" rtlCol="0" anchor="t"/>
          <a:lstStyle/>
          <a:p>
            <a:pPr algn="ctr" indent="0" marL="0">
              <a:buNone/>
            </a:pPr>
            <a:r>
              <a:rPr lang="en-US" sz="1250" dirty="0">
                <a:solidFill>
                  <a:schemeClr val="tx2"/>
                </a:solidFill>
                <a:latin typeface="Calibri" pitchFamily="34" charset="0"/>
                <a:ea typeface="Calibri" pitchFamily="34" charset="-122"/>
                <a:cs typeface="Calibri" pitchFamily="34" charset="-120"/>
              </a:rPr>
              <a:t>Track how towns and industrial areas grow over time.</a:t>
            </a:r>
            <a:endParaRPr lang="en-US" sz="1250" dirty="0"/>
          </a:p>
        </p:txBody>
      </p:sp>
      <p:sp>
        <p:nvSpPr>
          <p:cNvPr id="8" name="Use case Agriculture"/>
          <p:cNvSpPr/>
          <p:nvPr/>
        </p:nvSpPr>
        <p:spPr>
          <a:xfrm>
            <a:off x="2560320" y="1280160"/>
            <a:ext cx="1874520" cy="3017520"/>
          </a:xfrm>
          <a:prstGeom prst="roundRect">
            <a:avLst>
              <a:gd name="adj" fmla="val 3902"/>
            </a:avLst>
          </a:prstGeom>
          <a:solidFill>
            <a:schemeClr val="bg2"/>
          </a:solidFill>
          <a:ln w="12700">
            <a:solidFill>
              <a:schemeClr val="bg2"/>
            </a:solidFill>
            <a:prstDash val="solid"/>
          </a:ln>
        </p:spPr>
      </p:sp>
      <p:sp>
        <p:nvSpPr>
          <p:cNvPr id="9" name="Icon circle Agriculture"/>
          <p:cNvSpPr/>
          <p:nvPr/>
        </p:nvSpPr>
        <p:spPr>
          <a:xfrm>
            <a:off x="3154680" y="1554480"/>
            <a:ext cx="685800" cy="685800"/>
          </a:xfrm>
          <a:prstGeom prst="ellipse">
            <a:avLst/>
          </a:prstGeom>
          <a:solidFill>
            <a:schemeClr val="accent2"/>
          </a:solidFill>
          <a:ln w="12700">
            <a:solidFill>
              <a:schemeClr val="accent2"/>
            </a:solidFill>
            <a:prstDash val="solid"/>
          </a:ln>
        </p:spPr>
      </p:sp>
      <p:pic>
        <p:nvPicPr>
          <p:cNvPr id="10" name="Icon Agriculture" descr="preencoded.png">    </p:cNvPr>
          <p:cNvPicPr>
            <a:picLocks noChangeAspect="1"/>
          </p:cNvPicPr>
          <p:nvPr/>
        </p:nvPicPr>
        <p:blipFill>
          <a:blip r:embed="rId2"/>
          <a:stretch>
            <a:fillRect/>
          </a:stretch>
        </p:blipFill>
        <p:spPr>
          <a:xfrm>
            <a:off x="3310128" y="1709928"/>
            <a:ext cx="374904" cy="374904"/>
          </a:xfrm>
          <a:prstGeom prst="rect">
            <a:avLst/>
          </a:prstGeom>
        </p:spPr>
      </p:pic>
      <p:sp>
        <p:nvSpPr>
          <p:cNvPr id="11" name="Text 7"/>
          <p:cNvSpPr txBox="1"/>
          <p:nvPr/>
        </p:nvSpPr>
        <p:spPr>
          <a:xfrm>
            <a:off x="2743200" y="246888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Agriculture</a:t>
            </a:r>
            <a:endParaRPr lang="en-US" sz="1600" dirty="0"/>
          </a:p>
        </p:txBody>
      </p:sp>
      <p:sp>
        <p:nvSpPr>
          <p:cNvPr id="12" name="Text 8"/>
          <p:cNvSpPr txBox="1"/>
          <p:nvPr/>
        </p:nvSpPr>
        <p:spPr>
          <a:xfrm>
            <a:off x="2743200" y="2880360"/>
            <a:ext cx="1508760" cy="1188720"/>
          </a:xfrm>
          <a:prstGeom prst="rect">
            <a:avLst/>
          </a:prstGeom>
          <a:noFill/>
          <a:ln/>
        </p:spPr>
        <p:txBody>
          <a:bodyPr wrap="square" lIns="0" tIns="0" rIns="0" bIns="0" rtlCol="0" anchor="t"/>
          <a:lstStyle/>
          <a:p>
            <a:pPr algn="ctr" indent="0" marL="0">
              <a:buNone/>
            </a:pPr>
            <a:r>
              <a:rPr lang="en-US" sz="1250" dirty="0">
                <a:solidFill>
                  <a:schemeClr val="tx2"/>
                </a:solidFill>
                <a:latin typeface="Calibri" pitchFamily="34" charset="0"/>
                <a:ea typeface="Calibri" pitchFamily="34" charset="-122"/>
                <a:cs typeface="Calibri" pitchFamily="34" charset="-120"/>
              </a:rPr>
              <a:t>Map crops and pastures across whole countries, every few days.</a:t>
            </a:r>
            <a:endParaRPr lang="en-US" sz="1250" dirty="0"/>
          </a:p>
        </p:txBody>
      </p:sp>
      <p:sp>
        <p:nvSpPr>
          <p:cNvPr id="13" name="Use case Environment"/>
          <p:cNvSpPr/>
          <p:nvPr/>
        </p:nvSpPr>
        <p:spPr>
          <a:xfrm>
            <a:off x="4663440" y="1280160"/>
            <a:ext cx="1874520" cy="3017520"/>
          </a:xfrm>
          <a:prstGeom prst="roundRect">
            <a:avLst>
              <a:gd name="adj" fmla="val 3902"/>
            </a:avLst>
          </a:prstGeom>
          <a:solidFill>
            <a:schemeClr val="bg2"/>
          </a:solidFill>
          <a:ln w="12700">
            <a:solidFill>
              <a:schemeClr val="bg2"/>
            </a:solidFill>
            <a:prstDash val="solid"/>
          </a:ln>
        </p:spPr>
      </p:sp>
      <p:sp>
        <p:nvSpPr>
          <p:cNvPr id="14" name="Icon circle Environment"/>
          <p:cNvSpPr/>
          <p:nvPr/>
        </p:nvSpPr>
        <p:spPr>
          <a:xfrm>
            <a:off x="5257800" y="1554480"/>
            <a:ext cx="685800" cy="685800"/>
          </a:xfrm>
          <a:prstGeom prst="ellipse">
            <a:avLst/>
          </a:prstGeom>
          <a:solidFill>
            <a:schemeClr val="accent2"/>
          </a:solidFill>
          <a:ln w="12700">
            <a:solidFill>
              <a:schemeClr val="accent2"/>
            </a:solidFill>
            <a:prstDash val="solid"/>
          </a:ln>
        </p:spPr>
      </p:sp>
      <p:pic>
        <p:nvPicPr>
          <p:cNvPr id="15" name="Icon Environment" descr="preencoded.png">    </p:cNvPr>
          <p:cNvPicPr>
            <a:picLocks noChangeAspect="1"/>
          </p:cNvPicPr>
          <p:nvPr/>
        </p:nvPicPr>
        <p:blipFill>
          <a:blip r:embed="rId3"/>
          <a:stretch>
            <a:fillRect/>
          </a:stretch>
        </p:blipFill>
        <p:spPr>
          <a:xfrm>
            <a:off x="5413248" y="1709928"/>
            <a:ext cx="374904" cy="374904"/>
          </a:xfrm>
          <a:prstGeom prst="rect">
            <a:avLst/>
          </a:prstGeom>
        </p:spPr>
      </p:pic>
      <p:sp>
        <p:nvSpPr>
          <p:cNvPr id="16" name="Text 11"/>
          <p:cNvSpPr txBox="1"/>
          <p:nvPr/>
        </p:nvSpPr>
        <p:spPr>
          <a:xfrm>
            <a:off x="4846320" y="246888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Environment</a:t>
            </a:r>
            <a:endParaRPr lang="en-US" sz="1600" dirty="0"/>
          </a:p>
        </p:txBody>
      </p:sp>
      <p:sp>
        <p:nvSpPr>
          <p:cNvPr id="17" name="Text 12"/>
          <p:cNvSpPr txBox="1"/>
          <p:nvPr/>
        </p:nvSpPr>
        <p:spPr>
          <a:xfrm>
            <a:off x="4846320" y="2880360"/>
            <a:ext cx="1508760" cy="1188720"/>
          </a:xfrm>
          <a:prstGeom prst="rect">
            <a:avLst/>
          </a:prstGeom>
          <a:noFill/>
          <a:ln/>
        </p:spPr>
        <p:txBody>
          <a:bodyPr wrap="square" lIns="0" tIns="0" rIns="0" bIns="0" rtlCol="0" anchor="t"/>
          <a:lstStyle/>
          <a:p>
            <a:pPr algn="ctr" indent="0" marL="0">
              <a:buNone/>
            </a:pPr>
            <a:r>
              <a:rPr lang="en-US" sz="1250" dirty="0">
                <a:solidFill>
                  <a:schemeClr val="tx2"/>
                </a:solidFill>
                <a:latin typeface="Calibri" pitchFamily="34" charset="0"/>
                <a:ea typeface="Calibri" pitchFamily="34" charset="-122"/>
                <a:cs typeface="Calibri" pitchFamily="34" charset="-120"/>
              </a:rPr>
              <a:t>Spot deforestation, changing rivers and lake levels.</a:t>
            </a:r>
            <a:endParaRPr lang="en-US" sz="1250" dirty="0"/>
          </a:p>
        </p:txBody>
      </p:sp>
      <p:sp>
        <p:nvSpPr>
          <p:cNvPr id="18" name="Use case Energy"/>
          <p:cNvSpPr/>
          <p:nvPr/>
        </p:nvSpPr>
        <p:spPr>
          <a:xfrm>
            <a:off x="6766560" y="1280160"/>
            <a:ext cx="1874520" cy="3017520"/>
          </a:xfrm>
          <a:prstGeom prst="roundRect">
            <a:avLst>
              <a:gd name="adj" fmla="val 3902"/>
            </a:avLst>
          </a:prstGeom>
          <a:solidFill>
            <a:schemeClr val="bg2"/>
          </a:solidFill>
          <a:ln w="12700">
            <a:solidFill>
              <a:schemeClr val="bg2"/>
            </a:solidFill>
            <a:prstDash val="solid"/>
          </a:ln>
        </p:spPr>
      </p:sp>
      <p:sp>
        <p:nvSpPr>
          <p:cNvPr id="19" name="Icon circle Energy"/>
          <p:cNvSpPr/>
          <p:nvPr/>
        </p:nvSpPr>
        <p:spPr>
          <a:xfrm>
            <a:off x="7360920" y="1554480"/>
            <a:ext cx="685800" cy="685800"/>
          </a:xfrm>
          <a:prstGeom prst="ellipse">
            <a:avLst/>
          </a:prstGeom>
          <a:solidFill>
            <a:schemeClr val="accent2"/>
          </a:solidFill>
          <a:ln w="12700">
            <a:solidFill>
              <a:schemeClr val="accent2"/>
            </a:solidFill>
            <a:prstDash val="solid"/>
          </a:ln>
        </p:spPr>
      </p:sp>
      <p:pic>
        <p:nvPicPr>
          <p:cNvPr id="20" name="Icon Energy" descr="preencoded.png">    </p:cNvPr>
          <p:cNvPicPr>
            <a:picLocks noChangeAspect="1"/>
          </p:cNvPicPr>
          <p:nvPr/>
        </p:nvPicPr>
        <p:blipFill>
          <a:blip r:embed="rId4"/>
          <a:stretch>
            <a:fillRect/>
          </a:stretch>
        </p:blipFill>
        <p:spPr>
          <a:xfrm>
            <a:off x="7516368" y="1709928"/>
            <a:ext cx="374904" cy="374904"/>
          </a:xfrm>
          <a:prstGeom prst="rect">
            <a:avLst/>
          </a:prstGeom>
        </p:spPr>
      </p:pic>
      <p:sp>
        <p:nvSpPr>
          <p:cNvPr id="21" name="Text 15"/>
          <p:cNvSpPr txBox="1"/>
          <p:nvPr/>
        </p:nvSpPr>
        <p:spPr>
          <a:xfrm>
            <a:off x="6949440" y="246888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Energy</a:t>
            </a:r>
            <a:endParaRPr lang="en-US" sz="1600" dirty="0"/>
          </a:p>
        </p:txBody>
      </p:sp>
      <p:sp>
        <p:nvSpPr>
          <p:cNvPr id="22" name="Text 16"/>
          <p:cNvSpPr txBox="1"/>
          <p:nvPr/>
        </p:nvSpPr>
        <p:spPr>
          <a:xfrm>
            <a:off x="6949440" y="2880360"/>
            <a:ext cx="1508760" cy="1188720"/>
          </a:xfrm>
          <a:prstGeom prst="rect">
            <a:avLst/>
          </a:prstGeom>
          <a:noFill/>
          <a:ln/>
        </p:spPr>
        <p:txBody>
          <a:bodyPr wrap="square" lIns="0" tIns="0" rIns="0" bIns="0" rtlCol="0" anchor="t"/>
          <a:lstStyle/>
          <a:p>
            <a:pPr algn="ctr" indent="0" marL="0">
              <a:buNone/>
            </a:pPr>
            <a:r>
              <a:rPr lang="en-US" sz="1250" dirty="0">
                <a:solidFill>
                  <a:schemeClr val="tx2"/>
                </a:solidFill>
                <a:latin typeface="Calibri" pitchFamily="34" charset="0"/>
                <a:ea typeface="Calibri" pitchFamily="34" charset="-122"/>
                <a:cs typeface="Calibri" pitchFamily="34" charset="-120"/>
              </a:rPr>
              <a:t>Find suitable land and roofs for solar panels.</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The data: EuroSAT</a:t>
            </a:r>
            <a:endParaRPr lang="en-US" sz="2800" dirty="0"/>
          </a:p>
        </p:txBody>
      </p:sp>
      <p:sp>
        <p:nvSpPr>
          <p:cNvPr id="3" name="Text 1"/>
          <p:cNvSpPr txBox="1"/>
          <p:nvPr/>
        </p:nvSpPr>
        <p:spPr>
          <a:xfrm>
            <a:off x="457200" y="1143000"/>
            <a:ext cx="201168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27,000</a:t>
            </a:r>
            <a:endParaRPr lang="en-US" sz="3000" dirty="0"/>
          </a:p>
        </p:txBody>
      </p:sp>
      <p:sp>
        <p:nvSpPr>
          <p:cNvPr id="4" name="Text 2"/>
          <p:cNvSpPr txBox="1"/>
          <p:nvPr/>
        </p:nvSpPr>
        <p:spPr>
          <a:xfrm>
            <a:off x="457200" y="1618488"/>
            <a:ext cx="219456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labelled images</a:t>
            </a:r>
            <a:endParaRPr lang="en-US" sz="1200" dirty="0"/>
          </a:p>
        </p:txBody>
      </p:sp>
      <p:sp>
        <p:nvSpPr>
          <p:cNvPr id="5" name="Text 3"/>
          <p:cNvSpPr txBox="1"/>
          <p:nvPr/>
        </p:nvSpPr>
        <p:spPr>
          <a:xfrm>
            <a:off x="457200" y="2011680"/>
            <a:ext cx="201168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10</a:t>
            </a:r>
            <a:endParaRPr lang="en-US" sz="3000" dirty="0"/>
          </a:p>
        </p:txBody>
      </p:sp>
      <p:sp>
        <p:nvSpPr>
          <p:cNvPr id="6" name="Text 4"/>
          <p:cNvSpPr txBox="1"/>
          <p:nvPr/>
        </p:nvSpPr>
        <p:spPr>
          <a:xfrm>
            <a:off x="457200" y="2487168"/>
            <a:ext cx="219456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land-use classes</a:t>
            </a:r>
            <a:endParaRPr lang="en-US" sz="1200" dirty="0"/>
          </a:p>
        </p:txBody>
      </p:sp>
      <p:sp>
        <p:nvSpPr>
          <p:cNvPr id="7" name="Text 5"/>
          <p:cNvSpPr txBox="1"/>
          <p:nvPr/>
        </p:nvSpPr>
        <p:spPr>
          <a:xfrm>
            <a:off x="457200" y="2880360"/>
            <a:ext cx="201168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64 × 64</a:t>
            </a:r>
            <a:endParaRPr lang="en-US" sz="3000" dirty="0"/>
          </a:p>
        </p:txBody>
      </p:sp>
      <p:sp>
        <p:nvSpPr>
          <p:cNvPr id="8" name="Text 6"/>
          <p:cNvSpPr txBox="1"/>
          <p:nvPr/>
        </p:nvSpPr>
        <p:spPr>
          <a:xfrm>
            <a:off x="457200" y="3355848"/>
            <a:ext cx="219456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pixels per image</a:t>
            </a:r>
            <a:endParaRPr lang="en-US" sz="1200" dirty="0"/>
          </a:p>
        </p:txBody>
      </p:sp>
      <p:sp>
        <p:nvSpPr>
          <p:cNvPr id="9" name="Text 7"/>
          <p:cNvSpPr txBox="1"/>
          <p:nvPr/>
        </p:nvSpPr>
        <p:spPr>
          <a:xfrm>
            <a:off x="457200" y="3749040"/>
            <a:ext cx="201168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10 m</a:t>
            </a:r>
            <a:endParaRPr lang="en-US" sz="3000" dirty="0"/>
          </a:p>
        </p:txBody>
      </p:sp>
      <p:sp>
        <p:nvSpPr>
          <p:cNvPr id="10" name="Text 8"/>
          <p:cNvSpPr txBox="1"/>
          <p:nvPr/>
        </p:nvSpPr>
        <p:spPr>
          <a:xfrm>
            <a:off x="457200" y="4224528"/>
            <a:ext cx="219456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per pixel</a:t>
            </a:r>
            <a:endParaRPr lang="en-US" sz="1200" dirty="0"/>
          </a:p>
        </p:txBody>
      </p:sp>
      <p:graphicFrame>
        <p:nvGraphicFramePr>
          <p:cNvPr id="11" name="Chart 0" descr=""/>
          <p:cNvGraphicFramePr/>
          <p:nvPr/>
        </p:nvGraphicFramePr>
        <p:xfrm>
          <a:off x="2926080" y="1051560"/>
          <a:ext cx="5760720" cy="34290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2926080" y="4526280"/>
            <a:ext cx="5760720" cy="228600"/>
          </a:xfrm>
          <a:prstGeom prst="rect">
            <a:avLst/>
          </a:prstGeom>
          <a:noFill/>
          <a:ln/>
        </p:spPr>
        <p:txBody>
          <a:bodyPr wrap="square" lIns="0" tIns="0" rIns="0" bIns="0" rtlCol="0" anchor="t"/>
          <a:lstStyle/>
          <a:p>
            <a:pPr indent="0" marL="0">
              <a:buNone/>
            </a:pPr>
            <a:r>
              <a:rPr lang="en-US" sz="900" i="1" dirty="0">
                <a:solidFill>
                  <a:schemeClr val="accent6"/>
                </a:solidFill>
                <a:latin typeface="Calibri" pitchFamily="34" charset="0"/>
                <a:ea typeface="Calibri" pitchFamily="34" charset="-122"/>
                <a:cs typeface="Calibri" pitchFamily="34" charset="-120"/>
              </a:rPr>
              <a:t>Source: Sentinel-2 satellite (EU Copernicus programme), EuroSAT dataset by Helber et al., 2019.</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Why I chose this dataset</a:t>
            </a:r>
            <a:endParaRPr lang="en-US" sz="2800" dirty="0"/>
          </a:p>
        </p:txBody>
      </p:sp>
      <p:sp>
        <p:nvSpPr>
          <p:cNvPr id="3" name="Reason Real-world images"/>
          <p:cNvSpPr/>
          <p:nvPr/>
        </p:nvSpPr>
        <p:spPr>
          <a:xfrm>
            <a:off x="457200" y="1143000"/>
            <a:ext cx="4023360" cy="1600200"/>
          </a:xfrm>
          <a:prstGeom prst="roundRect">
            <a:avLst>
              <a:gd name="adj" fmla="val 4571"/>
            </a:avLst>
          </a:prstGeom>
          <a:solidFill>
            <a:schemeClr val="bg2"/>
          </a:solidFill>
          <a:ln w="12700">
            <a:solidFill>
              <a:schemeClr val="bg2"/>
            </a:solidFill>
            <a:prstDash val="solid"/>
          </a:ln>
        </p:spPr>
      </p:sp>
      <p:sp>
        <p:nvSpPr>
          <p:cNvPr id="4" name="Icon circle Real-world images"/>
          <p:cNvSpPr/>
          <p:nvPr/>
        </p:nvSpPr>
        <p:spPr>
          <a:xfrm>
            <a:off x="685800" y="1417320"/>
            <a:ext cx="594360" cy="594360"/>
          </a:xfrm>
          <a:prstGeom prst="ellipse">
            <a:avLst/>
          </a:prstGeom>
          <a:solidFill>
            <a:schemeClr val="accent1"/>
          </a:solidFill>
          <a:ln w="12700">
            <a:solidFill>
              <a:schemeClr val="accent1"/>
            </a:solidFill>
            <a:prstDash val="solid"/>
          </a:ln>
        </p:spPr>
      </p:sp>
      <p:pic>
        <p:nvPicPr>
          <p:cNvPr id="5" name="Icon Real-world images" descr="preencoded.png">    </p:cNvPr>
          <p:cNvPicPr>
            <a:picLocks noChangeAspect="1"/>
          </p:cNvPicPr>
          <p:nvPr/>
        </p:nvPicPr>
        <p:blipFill>
          <a:blip r:embed="rId1"/>
          <a:stretch>
            <a:fillRect/>
          </a:stretch>
        </p:blipFill>
        <p:spPr>
          <a:xfrm>
            <a:off x="822960" y="1554480"/>
            <a:ext cx="320040" cy="320040"/>
          </a:xfrm>
          <a:prstGeom prst="rect">
            <a:avLst/>
          </a:prstGeom>
        </p:spPr>
      </p:pic>
      <p:sp>
        <p:nvSpPr>
          <p:cNvPr id="6" name="Text 3"/>
          <p:cNvSpPr txBox="1"/>
          <p:nvPr/>
        </p:nvSpPr>
        <p:spPr>
          <a:xfrm>
            <a:off x="1463040" y="1371600"/>
            <a:ext cx="2834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Real-world images</a:t>
            </a:r>
            <a:endParaRPr lang="en-US" sz="1500" dirty="0"/>
          </a:p>
        </p:txBody>
      </p:sp>
      <p:sp>
        <p:nvSpPr>
          <p:cNvPr id="7" name="Text 4"/>
          <p:cNvSpPr txBox="1"/>
          <p:nvPr/>
        </p:nvSpPr>
        <p:spPr>
          <a:xfrm>
            <a:off x="1463040" y="1737360"/>
            <a:ext cx="2834640" cy="91440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Real satellite photos, not toy pictures: the same kind of data used in industry, for example to analyse roofs for solar panels.</a:t>
            </a:r>
            <a:endParaRPr lang="en-US" sz="1150" dirty="0"/>
          </a:p>
        </p:txBody>
      </p:sp>
      <p:sp>
        <p:nvSpPr>
          <p:cNvPr id="8" name="Reason Well balanced"/>
          <p:cNvSpPr/>
          <p:nvPr/>
        </p:nvSpPr>
        <p:spPr>
          <a:xfrm>
            <a:off x="4663440" y="1143000"/>
            <a:ext cx="4023360" cy="1600200"/>
          </a:xfrm>
          <a:prstGeom prst="roundRect">
            <a:avLst>
              <a:gd name="adj" fmla="val 4571"/>
            </a:avLst>
          </a:prstGeom>
          <a:solidFill>
            <a:schemeClr val="bg2"/>
          </a:solidFill>
          <a:ln w="12700">
            <a:solidFill>
              <a:schemeClr val="bg2"/>
            </a:solidFill>
            <a:prstDash val="solid"/>
          </a:ln>
        </p:spPr>
      </p:sp>
      <p:sp>
        <p:nvSpPr>
          <p:cNvPr id="9" name="Icon circle Well balanced"/>
          <p:cNvSpPr/>
          <p:nvPr/>
        </p:nvSpPr>
        <p:spPr>
          <a:xfrm>
            <a:off x="4892040" y="1417320"/>
            <a:ext cx="594360" cy="594360"/>
          </a:xfrm>
          <a:prstGeom prst="ellipse">
            <a:avLst/>
          </a:prstGeom>
          <a:solidFill>
            <a:schemeClr val="accent1"/>
          </a:solidFill>
          <a:ln w="12700">
            <a:solidFill>
              <a:schemeClr val="accent1"/>
            </a:solidFill>
            <a:prstDash val="solid"/>
          </a:ln>
        </p:spPr>
      </p:sp>
      <p:pic>
        <p:nvPicPr>
          <p:cNvPr id="10" name="Icon Well balanced" descr="preencoded.png">    </p:cNvPr>
          <p:cNvPicPr>
            <a:picLocks noChangeAspect="1"/>
          </p:cNvPicPr>
          <p:nvPr/>
        </p:nvPicPr>
        <p:blipFill>
          <a:blip r:embed="rId2"/>
          <a:stretch>
            <a:fillRect/>
          </a:stretch>
        </p:blipFill>
        <p:spPr>
          <a:xfrm>
            <a:off x="5029200" y="1554480"/>
            <a:ext cx="320040" cy="320040"/>
          </a:xfrm>
          <a:prstGeom prst="rect">
            <a:avLst/>
          </a:prstGeom>
        </p:spPr>
      </p:pic>
      <p:sp>
        <p:nvSpPr>
          <p:cNvPr id="11" name="Text 7"/>
          <p:cNvSpPr txBox="1"/>
          <p:nvPr/>
        </p:nvSpPr>
        <p:spPr>
          <a:xfrm>
            <a:off x="5669280" y="1371600"/>
            <a:ext cx="2834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Well balanced</a:t>
            </a:r>
            <a:endParaRPr lang="en-US" sz="1500" dirty="0"/>
          </a:p>
        </p:txBody>
      </p:sp>
      <p:sp>
        <p:nvSpPr>
          <p:cNvPr id="12" name="Text 8"/>
          <p:cNvSpPr txBox="1"/>
          <p:nvPr/>
        </p:nvSpPr>
        <p:spPr>
          <a:xfrm>
            <a:off x="5669280" y="1737360"/>
            <a:ext cx="2834640" cy="91440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Every class has 2,000–3,000 examples, so a high score cannot come from always guessing the most common class.</a:t>
            </a:r>
            <a:endParaRPr lang="en-US" sz="1150" dirty="0"/>
          </a:p>
        </p:txBody>
      </p:sp>
      <p:sp>
        <p:nvSpPr>
          <p:cNvPr id="13" name="Reason Laptop-sized"/>
          <p:cNvSpPr/>
          <p:nvPr/>
        </p:nvSpPr>
        <p:spPr>
          <a:xfrm>
            <a:off x="457200" y="2926080"/>
            <a:ext cx="4023360" cy="1600200"/>
          </a:xfrm>
          <a:prstGeom prst="roundRect">
            <a:avLst>
              <a:gd name="adj" fmla="val 4571"/>
            </a:avLst>
          </a:prstGeom>
          <a:solidFill>
            <a:schemeClr val="bg2"/>
          </a:solidFill>
          <a:ln w="12700">
            <a:solidFill>
              <a:schemeClr val="bg2"/>
            </a:solidFill>
            <a:prstDash val="solid"/>
          </a:ln>
        </p:spPr>
      </p:sp>
      <p:sp>
        <p:nvSpPr>
          <p:cNvPr id="14" name="Icon circle Laptop-sized"/>
          <p:cNvSpPr/>
          <p:nvPr/>
        </p:nvSpPr>
        <p:spPr>
          <a:xfrm>
            <a:off x="685800" y="3200400"/>
            <a:ext cx="594360" cy="594360"/>
          </a:xfrm>
          <a:prstGeom prst="ellipse">
            <a:avLst/>
          </a:prstGeom>
          <a:solidFill>
            <a:schemeClr val="accent1"/>
          </a:solidFill>
          <a:ln w="12700">
            <a:solidFill>
              <a:schemeClr val="accent1"/>
            </a:solidFill>
            <a:prstDash val="solid"/>
          </a:ln>
        </p:spPr>
      </p:sp>
      <p:pic>
        <p:nvPicPr>
          <p:cNvPr id="15" name="Icon Laptop-sized" descr="preencoded.png">    </p:cNvPr>
          <p:cNvPicPr>
            <a:picLocks noChangeAspect="1"/>
          </p:cNvPicPr>
          <p:nvPr/>
        </p:nvPicPr>
        <p:blipFill>
          <a:blip r:embed="rId3"/>
          <a:stretch>
            <a:fillRect/>
          </a:stretch>
        </p:blipFill>
        <p:spPr>
          <a:xfrm>
            <a:off x="822960" y="3337560"/>
            <a:ext cx="320040" cy="320040"/>
          </a:xfrm>
          <a:prstGeom prst="rect">
            <a:avLst/>
          </a:prstGeom>
        </p:spPr>
      </p:pic>
      <p:sp>
        <p:nvSpPr>
          <p:cNvPr id="16" name="Text 11"/>
          <p:cNvSpPr txBox="1"/>
          <p:nvPr/>
        </p:nvSpPr>
        <p:spPr>
          <a:xfrm>
            <a:off x="1463040" y="3154680"/>
            <a:ext cx="2834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Laptop-sized</a:t>
            </a:r>
            <a:endParaRPr lang="en-US" sz="1500" dirty="0"/>
          </a:p>
        </p:txBody>
      </p:sp>
      <p:sp>
        <p:nvSpPr>
          <p:cNvPr id="17" name="Text 12"/>
          <p:cNvSpPr txBox="1"/>
          <p:nvPr/>
        </p:nvSpPr>
        <p:spPr>
          <a:xfrm>
            <a:off x="1463040" y="3520440"/>
            <a:ext cx="2834640" cy="91440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Small 64 × 64 images: a full model trains on an ordinary computer in about an hour, without special hardware.</a:t>
            </a:r>
            <a:endParaRPr lang="en-US" sz="1150" dirty="0"/>
          </a:p>
        </p:txBody>
      </p:sp>
      <p:sp>
        <p:nvSpPr>
          <p:cNvPr id="18" name="Reason Open benchmark"/>
          <p:cNvSpPr/>
          <p:nvPr/>
        </p:nvSpPr>
        <p:spPr>
          <a:xfrm>
            <a:off x="4663440" y="2926080"/>
            <a:ext cx="4023360" cy="1600200"/>
          </a:xfrm>
          <a:prstGeom prst="roundRect">
            <a:avLst>
              <a:gd name="adj" fmla="val 4571"/>
            </a:avLst>
          </a:prstGeom>
          <a:solidFill>
            <a:schemeClr val="bg2"/>
          </a:solidFill>
          <a:ln w="12700">
            <a:solidFill>
              <a:schemeClr val="bg2"/>
            </a:solidFill>
            <a:prstDash val="solid"/>
          </a:ln>
        </p:spPr>
      </p:sp>
      <p:sp>
        <p:nvSpPr>
          <p:cNvPr id="19" name="Icon circle Open benchmark"/>
          <p:cNvSpPr/>
          <p:nvPr/>
        </p:nvSpPr>
        <p:spPr>
          <a:xfrm>
            <a:off x="4892040" y="3200400"/>
            <a:ext cx="594360" cy="594360"/>
          </a:xfrm>
          <a:prstGeom prst="ellipse">
            <a:avLst/>
          </a:prstGeom>
          <a:solidFill>
            <a:schemeClr val="accent1"/>
          </a:solidFill>
          <a:ln w="12700">
            <a:solidFill>
              <a:schemeClr val="accent1"/>
            </a:solidFill>
            <a:prstDash val="solid"/>
          </a:ln>
        </p:spPr>
      </p:sp>
      <p:pic>
        <p:nvPicPr>
          <p:cNvPr id="20" name="Icon Open benchmark" descr="preencoded.png">    </p:cNvPr>
          <p:cNvPicPr>
            <a:picLocks noChangeAspect="1"/>
          </p:cNvPicPr>
          <p:nvPr/>
        </p:nvPicPr>
        <p:blipFill>
          <a:blip r:embed="rId4"/>
          <a:stretch>
            <a:fillRect/>
          </a:stretch>
        </p:blipFill>
        <p:spPr>
          <a:xfrm>
            <a:off x="5029200" y="3337560"/>
            <a:ext cx="320040" cy="320040"/>
          </a:xfrm>
          <a:prstGeom prst="rect">
            <a:avLst/>
          </a:prstGeom>
        </p:spPr>
      </p:pic>
      <p:sp>
        <p:nvSpPr>
          <p:cNvPr id="21" name="Text 15"/>
          <p:cNvSpPr txBox="1"/>
          <p:nvPr/>
        </p:nvSpPr>
        <p:spPr>
          <a:xfrm>
            <a:off x="5669280" y="3154680"/>
            <a:ext cx="2834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Open benchmark</a:t>
            </a:r>
            <a:endParaRPr lang="en-US" sz="1500" dirty="0"/>
          </a:p>
        </p:txBody>
      </p:sp>
      <p:sp>
        <p:nvSpPr>
          <p:cNvPr id="22" name="Text 16"/>
          <p:cNvSpPr txBox="1"/>
          <p:nvPr/>
        </p:nvSpPr>
        <p:spPr>
          <a:xfrm>
            <a:off x="5669280" y="3520440"/>
            <a:ext cx="2834640" cy="91440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Freely available and widely studied, so my results can be compared with published research.</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How a neural network learns to see</a:t>
            </a:r>
            <a:endParaRPr lang="en-US" sz="2800" dirty="0"/>
          </a:p>
        </p:txBody>
      </p:sp>
      <p:sp>
        <p:nvSpPr>
          <p:cNvPr id="3" name="IMG:input.png"/>
          <p:cNvSpPr/>
          <p:nvPr/>
        </p:nvSpPr>
        <p:spPr>
          <a:xfrm>
            <a:off x="594360" y="1143000"/>
            <a:ext cx="1600200" cy="1600200"/>
          </a:xfrm>
          <a:prstGeom prst="rect">
            <a:avLst/>
          </a:prstGeom>
          <a:solidFill>
            <a:schemeClr val="bg2"/>
          </a:solidFill>
          <a:ln w="9525">
            <a:solidFill>
              <a:schemeClr val="accent6"/>
            </a:solidFill>
            <a:prstDash val="dash"/>
          </a:ln>
        </p:spPr>
      </p:sp>
      <p:sp>
        <p:nvSpPr>
          <p:cNvPr id="4" name="IMGLABEL:input.png"/>
          <p:cNvSpPr txBox="1"/>
          <p:nvPr/>
        </p:nvSpPr>
        <p:spPr>
          <a:xfrm>
            <a:off x="594360" y="1143000"/>
            <a:ext cx="1600200" cy="1600200"/>
          </a:xfrm>
          <a:prstGeom prst="rect">
            <a:avLst/>
          </a:prstGeom>
          <a:noFill/>
          <a:ln/>
        </p:spPr>
        <p:txBody>
          <a:bodyPr wrap="square" lIns="635" tIns="635" rIns="635" bIns="635" rtlCol="0" anchor="ctr"/>
          <a:lstStyle/>
          <a:p>
            <a:pPr algn="ctr" indent="0" marL="0">
              <a:buNone/>
            </a:pPr>
            <a:r>
              <a:rPr lang="en-US" sz="800" i="1" dirty="0">
                <a:solidFill>
                  <a:schemeClr val="accent6"/>
                </a:solidFill>
              </a:rPr>
              <a:t>filled by make_presentation.py</a:t>
            </a:r>
            <a:endParaRPr lang="en-US" sz="800" dirty="0"/>
          </a:p>
        </p:txBody>
      </p:sp>
      <p:pic>
        <p:nvPicPr>
          <p:cNvPr id="5" name="Arrow 1" descr="preencoded.png">    </p:cNvPr>
          <p:cNvPicPr>
            <a:picLocks noChangeAspect="1"/>
          </p:cNvPicPr>
          <p:nvPr/>
        </p:nvPicPr>
        <p:blipFill>
          <a:blip r:embed="rId1"/>
          <a:stretch>
            <a:fillRect/>
          </a:stretch>
        </p:blipFill>
        <p:spPr>
          <a:xfrm>
            <a:off x="2304288" y="1810512"/>
            <a:ext cx="256032" cy="256032"/>
          </a:xfrm>
          <a:prstGeom prst="rect">
            <a:avLst/>
          </a:prstGeom>
        </p:spPr>
      </p:pic>
      <p:sp>
        <p:nvSpPr>
          <p:cNvPr id="6" name="Text 3"/>
          <p:cNvSpPr txBox="1"/>
          <p:nvPr/>
        </p:nvSpPr>
        <p:spPr>
          <a:xfrm>
            <a:off x="548640" y="2926080"/>
            <a:ext cx="182880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1. The image</a:t>
            </a:r>
            <a:endParaRPr lang="en-US" sz="1400" dirty="0"/>
          </a:p>
        </p:txBody>
      </p:sp>
      <p:sp>
        <p:nvSpPr>
          <p:cNvPr id="7" name="Text 4"/>
          <p:cNvSpPr txBox="1"/>
          <p:nvPr/>
        </p:nvSpPr>
        <p:spPr>
          <a:xfrm>
            <a:off x="548640" y="3273552"/>
            <a:ext cx="1828800" cy="10972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The computer only sees numbers: 64 × 64 pixels × 3 colours.</a:t>
            </a:r>
            <a:endParaRPr lang="en-US" sz="1150" dirty="0"/>
          </a:p>
        </p:txBody>
      </p:sp>
      <p:sp>
        <p:nvSpPr>
          <p:cNvPr id="8" name="IMG:fmap1.png"/>
          <p:cNvSpPr/>
          <p:nvPr/>
        </p:nvSpPr>
        <p:spPr>
          <a:xfrm>
            <a:off x="2715768" y="1143000"/>
            <a:ext cx="1600200" cy="1600200"/>
          </a:xfrm>
          <a:prstGeom prst="rect">
            <a:avLst/>
          </a:prstGeom>
          <a:solidFill>
            <a:schemeClr val="bg2"/>
          </a:solidFill>
          <a:ln w="9525">
            <a:solidFill>
              <a:schemeClr val="accent6"/>
            </a:solidFill>
            <a:prstDash val="dash"/>
          </a:ln>
        </p:spPr>
      </p:sp>
      <p:sp>
        <p:nvSpPr>
          <p:cNvPr id="9" name="IMGLABEL:fmap1.png"/>
          <p:cNvSpPr txBox="1"/>
          <p:nvPr/>
        </p:nvSpPr>
        <p:spPr>
          <a:xfrm>
            <a:off x="2715768" y="1143000"/>
            <a:ext cx="1600200" cy="1600200"/>
          </a:xfrm>
          <a:prstGeom prst="rect">
            <a:avLst/>
          </a:prstGeom>
          <a:noFill/>
          <a:ln/>
        </p:spPr>
        <p:txBody>
          <a:bodyPr wrap="square" lIns="635" tIns="635" rIns="635" bIns="635" rtlCol="0" anchor="ctr"/>
          <a:lstStyle/>
          <a:p>
            <a:pPr algn="ctr" indent="0" marL="0">
              <a:buNone/>
            </a:pPr>
            <a:r>
              <a:rPr lang="en-US" sz="800" i="1" dirty="0">
                <a:solidFill>
                  <a:schemeClr val="accent6"/>
                </a:solidFill>
              </a:rPr>
              <a:t>filled by make_presentation.py</a:t>
            </a:r>
            <a:endParaRPr lang="en-US" sz="800" dirty="0"/>
          </a:p>
        </p:txBody>
      </p:sp>
      <p:pic>
        <p:nvPicPr>
          <p:cNvPr id="10" name="Arrow 2" descr="preencoded.png">    </p:cNvPr>
          <p:cNvPicPr>
            <a:picLocks noChangeAspect="1"/>
          </p:cNvPicPr>
          <p:nvPr/>
        </p:nvPicPr>
        <p:blipFill>
          <a:blip r:embed="rId2"/>
          <a:stretch>
            <a:fillRect/>
          </a:stretch>
        </p:blipFill>
        <p:spPr>
          <a:xfrm>
            <a:off x="4425696" y="1810512"/>
            <a:ext cx="256032" cy="256032"/>
          </a:xfrm>
          <a:prstGeom prst="rect">
            <a:avLst/>
          </a:prstGeom>
        </p:spPr>
      </p:pic>
      <p:sp>
        <p:nvSpPr>
          <p:cNvPr id="11" name="Text 7"/>
          <p:cNvSpPr txBox="1"/>
          <p:nvPr/>
        </p:nvSpPr>
        <p:spPr>
          <a:xfrm>
            <a:off x="2670048" y="2926080"/>
            <a:ext cx="182880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2. Simple patterns</a:t>
            </a:r>
            <a:endParaRPr lang="en-US" sz="1400" dirty="0"/>
          </a:p>
        </p:txBody>
      </p:sp>
      <p:sp>
        <p:nvSpPr>
          <p:cNvPr id="12" name="Text 8"/>
          <p:cNvSpPr txBox="1"/>
          <p:nvPr/>
        </p:nvSpPr>
        <p:spPr>
          <a:xfrm>
            <a:off x="2670048" y="3273552"/>
            <a:ext cx="1828800" cy="10972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The first layers react to edges, lines and colour changes.</a:t>
            </a:r>
            <a:endParaRPr lang="en-US" sz="1150" dirty="0"/>
          </a:p>
        </p:txBody>
      </p:sp>
      <p:sp>
        <p:nvSpPr>
          <p:cNvPr id="13" name="IMG:fmap2.png"/>
          <p:cNvSpPr/>
          <p:nvPr/>
        </p:nvSpPr>
        <p:spPr>
          <a:xfrm>
            <a:off x="4837176" y="1143000"/>
            <a:ext cx="1600200" cy="1600200"/>
          </a:xfrm>
          <a:prstGeom prst="rect">
            <a:avLst/>
          </a:prstGeom>
          <a:solidFill>
            <a:schemeClr val="bg2"/>
          </a:solidFill>
          <a:ln w="9525">
            <a:solidFill>
              <a:schemeClr val="accent6"/>
            </a:solidFill>
            <a:prstDash val="dash"/>
          </a:ln>
        </p:spPr>
      </p:sp>
      <p:sp>
        <p:nvSpPr>
          <p:cNvPr id="14" name="IMGLABEL:fmap2.png"/>
          <p:cNvSpPr txBox="1"/>
          <p:nvPr/>
        </p:nvSpPr>
        <p:spPr>
          <a:xfrm>
            <a:off x="4837176" y="1143000"/>
            <a:ext cx="1600200" cy="1600200"/>
          </a:xfrm>
          <a:prstGeom prst="rect">
            <a:avLst/>
          </a:prstGeom>
          <a:noFill/>
          <a:ln/>
        </p:spPr>
        <p:txBody>
          <a:bodyPr wrap="square" lIns="635" tIns="635" rIns="635" bIns="635" rtlCol="0" anchor="ctr"/>
          <a:lstStyle/>
          <a:p>
            <a:pPr algn="ctr" indent="0" marL="0">
              <a:buNone/>
            </a:pPr>
            <a:r>
              <a:rPr lang="en-US" sz="800" i="1" dirty="0">
                <a:solidFill>
                  <a:schemeClr val="accent6"/>
                </a:solidFill>
              </a:rPr>
              <a:t>filled by make_presentation.py</a:t>
            </a:r>
            <a:endParaRPr lang="en-US" sz="800" dirty="0"/>
          </a:p>
        </p:txBody>
      </p:sp>
      <p:pic>
        <p:nvPicPr>
          <p:cNvPr id="15" name="Arrow 3" descr="preencoded.png">    </p:cNvPr>
          <p:cNvPicPr>
            <a:picLocks noChangeAspect="1"/>
          </p:cNvPicPr>
          <p:nvPr/>
        </p:nvPicPr>
        <p:blipFill>
          <a:blip r:embed="rId3"/>
          <a:stretch>
            <a:fillRect/>
          </a:stretch>
        </p:blipFill>
        <p:spPr>
          <a:xfrm>
            <a:off x="6547104" y="1810512"/>
            <a:ext cx="256032" cy="256032"/>
          </a:xfrm>
          <a:prstGeom prst="rect">
            <a:avLst/>
          </a:prstGeom>
        </p:spPr>
      </p:pic>
      <p:sp>
        <p:nvSpPr>
          <p:cNvPr id="16" name="Text 11"/>
          <p:cNvSpPr txBox="1"/>
          <p:nvPr/>
        </p:nvSpPr>
        <p:spPr>
          <a:xfrm>
            <a:off x="4791456" y="2926080"/>
            <a:ext cx="182880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3. Textures and shapes</a:t>
            </a:r>
            <a:endParaRPr lang="en-US" sz="1400" dirty="0"/>
          </a:p>
        </p:txBody>
      </p:sp>
      <p:sp>
        <p:nvSpPr>
          <p:cNvPr id="17" name="Text 12"/>
          <p:cNvSpPr txBox="1"/>
          <p:nvPr/>
        </p:nvSpPr>
        <p:spPr>
          <a:xfrm>
            <a:off x="4791456" y="3273552"/>
            <a:ext cx="1828800" cy="10972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Deeper layers combine them into roads, rooftops, field stripes.</a:t>
            </a:r>
            <a:endParaRPr lang="en-US" sz="1150" dirty="0"/>
          </a:p>
        </p:txBody>
      </p:sp>
      <p:sp>
        <p:nvSpPr>
          <p:cNvPr id="18" name="Decision box"/>
          <p:cNvSpPr/>
          <p:nvPr/>
        </p:nvSpPr>
        <p:spPr>
          <a:xfrm>
            <a:off x="6958584" y="1143000"/>
            <a:ext cx="1600200" cy="1600200"/>
          </a:xfrm>
          <a:prstGeom prst="roundRect">
            <a:avLst>
              <a:gd name="adj" fmla="val 5714"/>
            </a:avLst>
          </a:prstGeom>
          <a:solidFill>
            <a:schemeClr val="accent2"/>
          </a:solidFill>
          <a:ln w="12700">
            <a:solidFill>
              <a:schemeClr val="accent2"/>
            </a:solidFill>
            <a:prstDash val="solid"/>
          </a:ln>
        </p:spPr>
      </p:sp>
      <p:sp>
        <p:nvSpPr>
          <p:cNvPr id="19" name="Text 14"/>
          <p:cNvSpPr txBox="1"/>
          <p:nvPr/>
        </p:nvSpPr>
        <p:spPr>
          <a:xfrm>
            <a:off x="7004304" y="1325880"/>
            <a:ext cx="1508760" cy="128016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{{DECISION_LABEL}}</a:t>
            </a:r>
            <a:endParaRPr lang="en-US" sz="1700" dirty="0"/>
          </a:p>
          <a:p>
            <a:pPr algn="ctr" indent="0" marL="0">
              <a:buNone/>
            </a:pPr>
            <a:r>
              <a:rPr lang="en-US" sz="3000" b="1" dirty="0">
                <a:solidFill>
                  <a:schemeClr val="accent1"/>
                </a:solidFill>
                <a:latin typeface="Cambria" pitchFamily="34" charset="0"/>
                <a:ea typeface="Cambria" pitchFamily="34" charset="-122"/>
                <a:cs typeface="Cambria" pitchFamily="34" charset="-120"/>
              </a:rPr>
              <a:t>{{DECISION_PROB}}</a:t>
            </a:r>
            <a:endParaRPr lang="en-US" sz="1700" dirty="0"/>
          </a:p>
        </p:txBody>
      </p:sp>
      <p:sp>
        <p:nvSpPr>
          <p:cNvPr id="20" name="Text 15"/>
          <p:cNvSpPr txBox="1"/>
          <p:nvPr/>
        </p:nvSpPr>
        <p:spPr>
          <a:xfrm>
            <a:off x="6912864" y="2926080"/>
            <a:ext cx="182880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4. The decision</a:t>
            </a:r>
            <a:endParaRPr lang="en-US" sz="1400" dirty="0"/>
          </a:p>
        </p:txBody>
      </p:sp>
      <p:sp>
        <p:nvSpPr>
          <p:cNvPr id="21" name="Text 16"/>
          <p:cNvSpPr txBox="1"/>
          <p:nvPr/>
        </p:nvSpPr>
        <p:spPr>
          <a:xfrm>
            <a:off x="6912864" y="3273552"/>
            <a:ext cx="1828800" cy="10972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The last layer gives a probability for each class. Here: {{DECISION_PROB}} {{DECISION_LABEL_LOWER}}.</a:t>
            </a:r>
            <a:endParaRPr lang="en-US" sz="1150" dirty="0"/>
          </a:p>
        </p:txBody>
      </p:sp>
      <p:sp>
        <p:nvSpPr>
          <p:cNvPr id="22" name="Text 17"/>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900" i="1" dirty="0">
                <a:solidFill>
                  <a:schemeClr val="accent6"/>
                </a:solidFill>
                <a:latin typeface="Calibri" pitchFamily="34" charset="0"/>
                <a:ea typeface="Calibri" pitchFamily="34" charset="-122"/>
                <a:cs typeface="Calibri" pitchFamily="34" charset="-120"/>
              </a:rPr>
              <a:t>Images 2 and 3 are real activation maps from my trained model: bright areas show where a filter 'fires'.</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 fair exam: data the model has never seen</a:t>
            </a:r>
            <a:endParaRPr lang="en-US" sz="2800" dirty="0"/>
          </a:p>
        </p:txBody>
      </p:sp>
      <p:sp>
        <p:nvSpPr>
          <p:cNvPr id="3" name="Split Practice"/>
          <p:cNvSpPr/>
          <p:nvPr/>
        </p:nvSpPr>
        <p:spPr>
          <a:xfrm>
            <a:off x="457200" y="1463040"/>
            <a:ext cx="5715000" cy="914400"/>
          </a:xfrm>
          <a:prstGeom prst="rect">
            <a:avLst/>
          </a:prstGeom>
          <a:solidFill>
            <a:schemeClr val="accent2"/>
          </a:solidFill>
          <a:ln w="12700">
            <a:solidFill>
              <a:schemeClr val="accent2"/>
            </a:solidFill>
            <a:prstDash val="solid"/>
          </a:ln>
        </p:spPr>
      </p:sp>
      <p:sp>
        <p:nvSpPr>
          <p:cNvPr id="4" name="Text 2"/>
          <p:cNvSpPr txBox="1"/>
          <p:nvPr/>
        </p:nvSpPr>
        <p:spPr>
          <a:xfrm>
            <a:off x="566928" y="1536192"/>
            <a:ext cx="5486400" cy="777240"/>
          </a:xfrm>
          <a:prstGeom prst="rect">
            <a:avLst/>
          </a:prstGeom>
          <a:noFill/>
          <a:ln/>
        </p:spPr>
        <p:txBody>
          <a:bodyPr wrap="square" lIns="0" tIns="0" rIns="0" bIns="0" rtlCol="0" anchor="ctr"/>
          <a:lstStyle/>
          <a:p>
            <a:pPr indent="0" marL="0">
              <a:buNone/>
            </a:pPr>
            <a:r>
              <a:rPr lang="en-US" sz="2200" b="1" dirty="0">
                <a:solidFill>
                  <a:schemeClr val="bg1"/>
                </a:solidFill>
                <a:latin typeface="Calibri" pitchFamily="34" charset="0"/>
                <a:ea typeface="Calibri" pitchFamily="34" charset="-122"/>
                <a:cs typeface="Calibri" pitchFamily="34" charset="-120"/>
              </a:rPr>
              <a:t>70%</a:t>
            </a:r>
            <a:endParaRPr lang="en-US" sz="2200" dirty="0"/>
          </a:p>
          <a:p>
            <a:pPr indent="0" marL="0">
              <a:buNone/>
            </a:pPr>
            <a:r>
              <a:rPr lang="en-US" sz="1100" dirty="0">
                <a:solidFill>
                  <a:schemeClr val="bg1"/>
                </a:solidFill>
                <a:latin typeface="Calibri" pitchFamily="34" charset="0"/>
                <a:ea typeface="Calibri" pitchFamily="34" charset="-122"/>
                <a:cs typeface="Calibri" pitchFamily="34" charset="-120"/>
              </a:rPr>
              <a:t>18,899 images</a:t>
            </a:r>
            <a:endParaRPr lang="en-US" sz="2200" dirty="0"/>
          </a:p>
        </p:txBody>
      </p:sp>
      <p:sp>
        <p:nvSpPr>
          <p:cNvPr id="5" name="Text 3"/>
          <p:cNvSpPr txBox="1"/>
          <p:nvPr/>
        </p:nvSpPr>
        <p:spPr>
          <a:xfrm>
            <a:off x="457200" y="2560320"/>
            <a:ext cx="56692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Practice</a:t>
            </a:r>
            <a:endParaRPr lang="en-US" sz="1500" dirty="0"/>
          </a:p>
        </p:txBody>
      </p:sp>
      <p:sp>
        <p:nvSpPr>
          <p:cNvPr id="6" name="Text 4"/>
          <p:cNvSpPr txBox="1"/>
          <p:nvPr/>
        </p:nvSpPr>
        <p:spPr>
          <a:xfrm>
            <a:off x="457200" y="2898648"/>
            <a:ext cx="5623560" cy="82296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The model learns from these images.</a:t>
            </a:r>
            <a:endParaRPr lang="en-US" sz="1150" dirty="0"/>
          </a:p>
        </p:txBody>
      </p:sp>
      <p:sp>
        <p:nvSpPr>
          <p:cNvPr id="7" name="Split Check-in"/>
          <p:cNvSpPr/>
          <p:nvPr/>
        </p:nvSpPr>
        <p:spPr>
          <a:xfrm>
            <a:off x="6217920" y="1463040"/>
            <a:ext cx="1188720" cy="914400"/>
          </a:xfrm>
          <a:prstGeom prst="rect">
            <a:avLst/>
          </a:prstGeom>
          <a:solidFill>
            <a:schemeClr val="accent3"/>
          </a:solidFill>
          <a:ln w="12700">
            <a:solidFill>
              <a:schemeClr val="accent3"/>
            </a:solidFill>
            <a:prstDash val="solid"/>
          </a:ln>
        </p:spPr>
      </p:sp>
      <p:sp>
        <p:nvSpPr>
          <p:cNvPr id="8" name="Text 6"/>
          <p:cNvSpPr txBox="1"/>
          <p:nvPr/>
        </p:nvSpPr>
        <p:spPr>
          <a:xfrm>
            <a:off x="6327648" y="1536192"/>
            <a:ext cx="960120" cy="777240"/>
          </a:xfrm>
          <a:prstGeom prst="rect">
            <a:avLst/>
          </a:prstGeom>
          <a:noFill/>
          <a:ln/>
        </p:spPr>
        <p:txBody>
          <a:bodyPr wrap="square" lIns="0" tIns="0" rIns="0" bIns="0" rtlCol="0" anchor="ctr"/>
          <a:lstStyle/>
          <a:p>
            <a:pPr indent="0" marL="0">
              <a:buNone/>
            </a:pPr>
            <a:r>
              <a:rPr lang="en-US" sz="2200" b="1" dirty="0">
                <a:solidFill>
                  <a:schemeClr val="bg1"/>
                </a:solidFill>
                <a:latin typeface="Calibri" pitchFamily="34" charset="0"/>
                <a:ea typeface="Calibri" pitchFamily="34" charset="-122"/>
                <a:cs typeface="Calibri" pitchFamily="34" charset="-120"/>
              </a:rPr>
              <a:t>15%</a:t>
            </a:r>
            <a:endParaRPr lang="en-US" sz="2200" dirty="0"/>
          </a:p>
          <a:p>
            <a:pPr indent="0" marL="0">
              <a:buNone/>
            </a:pPr>
            <a:r>
              <a:rPr lang="en-US" sz="1100" dirty="0">
                <a:solidFill>
                  <a:schemeClr val="bg1"/>
                </a:solidFill>
                <a:latin typeface="Calibri" pitchFamily="34" charset="0"/>
                <a:ea typeface="Calibri" pitchFamily="34" charset="-122"/>
                <a:cs typeface="Calibri" pitchFamily="34" charset="-120"/>
              </a:rPr>
              <a:t>4,051 images</a:t>
            </a:r>
            <a:endParaRPr lang="en-US" sz="2200" dirty="0"/>
          </a:p>
        </p:txBody>
      </p:sp>
      <p:sp>
        <p:nvSpPr>
          <p:cNvPr id="9" name="Text 7"/>
          <p:cNvSpPr txBox="1"/>
          <p:nvPr/>
        </p:nvSpPr>
        <p:spPr>
          <a:xfrm>
            <a:off x="6217920" y="2560320"/>
            <a:ext cx="11887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Check-in</a:t>
            </a:r>
            <a:endParaRPr lang="en-US" sz="1500" dirty="0"/>
          </a:p>
        </p:txBody>
      </p:sp>
      <p:sp>
        <p:nvSpPr>
          <p:cNvPr id="10" name="Text 8"/>
          <p:cNvSpPr txBox="1"/>
          <p:nvPr/>
        </p:nvSpPr>
        <p:spPr>
          <a:xfrm>
            <a:off x="6217920" y="2898648"/>
            <a:ext cx="1188720" cy="82296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Used during training to pick the best version.</a:t>
            </a:r>
            <a:endParaRPr lang="en-US" sz="1150" dirty="0"/>
          </a:p>
        </p:txBody>
      </p:sp>
      <p:sp>
        <p:nvSpPr>
          <p:cNvPr id="11" name="Split Final exam"/>
          <p:cNvSpPr/>
          <p:nvPr/>
        </p:nvSpPr>
        <p:spPr>
          <a:xfrm>
            <a:off x="7452360" y="1463040"/>
            <a:ext cx="1188720" cy="914400"/>
          </a:xfrm>
          <a:prstGeom prst="rect">
            <a:avLst/>
          </a:prstGeom>
          <a:solidFill>
            <a:schemeClr val="accent1"/>
          </a:solidFill>
          <a:ln w="12700">
            <a:solidFill>
              <a:schemeClr val="accent1"/>
            </a:solidFill>
            <a:prstDash val="solid"/>
          </a:ln>
        </p:spPr>
      </p:sp>
      <p:sp>
        <p:nvSpPr>
          <p:cNvPr id="12" name="Text 10"/>
          <p:cNvSpPr txBox="1"/>
          <p:nvPr/>
        </p:nvSpPr>
        <p:spPr>
          <a:xfrm>
            <a:off x="7562088" y="1536192"/>
            <a:ext cx="960120" cy="777240"/>
          </a:xfrm>
          <a:prstGeom prst="rect">
            <a:avLst/>
          </a:prstGeom>
          <a:noFill/>
          <a:ln/>
        </p:spPr>
        <p:txBody>
          <a:bodyPr wrap="square" lIns="0" tIns="0" rIns="0" bIns="0" rtlCol="0" anchor="ctr"/>
          <a:lstStyle/>
          <a:p>
            <a:pPr indent="0" marL="0">
              <a:buNone/>
            </a:pPr>
            <a:r>
              <a:rPr lang="en-US" sz="2200" b="1" dirty="0">
                <a:solidFill>
                  <a:schemeClr val="bg1"/>
                </a:solidFill>
                <a:latin typeface="Calibri" pitchFamily="34" charset="0"/>
                <a:ea typeface="Calibri" pitchFamily="34" charset="-122"/>
                <a:cs typeface="Calibri" pitchFamily="34" charset="-120"/>
              </a:rPr>
              <a:t>15%</a:t>
            </a:r>
            <a:endParaRPr lang="en-US" sz="2200" dirty="0"/>
          </a:p>
          <a:p>
            <a:pPr indent="0" marL="0">
              <a:buNone/>
            </a:pPr>
            <a:r>
              <a:rPr lang="en-US" sz="1100" dirty="0">
                <a:solidFill>
                  <a:schemeClr val="bg1"/>
                </a:solidFill>
                <a:latin typeface="Calibri" pitchFamily="34" charset="0"/>
                <a:ea typeface="Calibri" pitchFamily="34" charset="-122"/>
                <a:cs typeface="Calibri" pitchFamily="34" charset="-120"/>
              </a:rPr>
              <a:t>4,050 images</a:t>
            </a:r>
            <a:endParaRPr lang="en-US" sz="2200" dirty="0"/>
          </a:p>
        </p:txBody>
      </p:sp>
      <p:sp>
        <p:nvSpPr>
          <p:cNvPr id="13" name="Text 11"/>
          <p:cNvSpPr txBox="1"/>
          <p:nvPr/>
        </p:nvSpPr>
        <p:spPr>
          <a:xfrm>
            <a:off x="7452360" y="2560320"/>
            <a:ext cx="11887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Final exam</a:t>
            </a:r>
            <a:endParaRPr lang="en-US" sz="1500" dirty="0"/>
          </a:p>
        </p:txBody>
      </p:sp>
      <p:sp>
        <p:nvSpPr>
          <p:cNvPr id="14" name="Text 12"/>
          <p:cNvSpPr txBox="1"/>
          <p:nvPr/>
        </p:nvSpPr>
        <p:spPr>
          <a:xfrm>
            <a:off x="7452360" y="2898648"/>
            <a:ext cx="1188720" cy="82296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Locked away until the very end.</a:t>
            </a:r>
            <a:endParaRPr lang="en-US" sz="1150" dirty="0"/>
          </a:p>
        </p:txBody>
      </p:sp>
      <p:sp>
        <p:nvSpPr>
          <p:cNvPr id="15" name="Text 13"/>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Every class keeps the same share in all three parts, and the split is fixed with a random seed so anyone can reproduce it.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Two models: simple first, then improved</a:t>
            </a:r>
            <a:endParaRPr lang="en-US" sz="2800" dirty="0"/>
          </a:p>
        </p:txBody>
      </p:sp>
      <p:sp>
        <p:nvSpPr>
          <p:cNvPr id="3" name="Model Baseline CNN"/>
          <p:cNvSpPr/>
          <p:nvPr/>
        </p:nvSpPr>
        <p:spPr>
          <a:xfrm>
            <a:off x="457200" y="1143000"/>
            <a:ext cx="2606040" cy="329184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685800" y="1325880"/>
            <a:ext cx="21945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Baseline CNN</a:t>
            </a:r>
            <a:endParaRPr lang="en-US" sz="1700" dirty="0"/>
          </a:p>
        </p:txBody>
      </p:sp>
      <p:sp>
        <p:nvSpPr>
          <p:cNvPr id="5" name="Text 3"/>
          <p:cNvSpPr txBox="1"/>
          <p:nvPr/>
        </p:nvSpPr>
        <p:spPr>
          <a:xfrm>
            <a:off x="685800" y="1719072"/>
            <a:ext cx="2194560" cy="274320"/>
          </a:xfrm>
          <a:prstGeom prst="rect">
            <a:avLst/>
          </a:prstGeom>
          <a:noFill/>
          <a:ln/>
        </p:spPr>
        <p:txBody>
          <a:bodyPr wrap="square" lIns="0" tIns="0" rIns="0" bIns="0" rtlCol="0" anchor="t"/>
          <a:lstStyle/>
          <a:p>
            <a:pPr indent="0" marL="0">
              <a:buNone/>
            </a:pPr>
            <a:r>
              <a:rPr lang="en-US" sz="1150" b="1" dirty="0">
                <a:solidFill>
                  <a:schemeClr val="accent2"/>
                </a:solidFill>
                <a:latin typeface="Calibri" pitchFamily="34" charset="0"/>
                <a:ea typeface="Calibri" pitchFamily="34" charset="-122"/>
                <a:cs typeface="Calibri" pitchFamily="34" charset="-120"/>
              </a:rPr>
              <a:t>1.14 M parameters</a:t>
            </a:r>
            <a:endParaRPr lang="en-US" sz="1150" dirty="0"/>
          </a:p>
        </p:txBody>
      </p:sp>
      <p:sp>
        <p:nvSpPr>
          <p:cNvPr id="6" name="Text 4"/>
          <p:cNvSpPr txBox="1"/>
          <p:nvPr/>
        </p:nvSpPr>
        <p:spPr>
          <a:xfrm>
            <a:off x="685800" y="2103120"/>
            <a:ext cx="224028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3 convolution layers, then a classic dense classifier</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Quick to train and easy to understand</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Tends to memorise the practice images</a:t>
            </a:r>
            <a:endParaRPr lang="en-US" sz="1200" dirty="0"/>
          </a:p>
        </p:txBody>
      </p:sp>
      <p:sp>
        <p:nvSpPr>
          <p:cNvPr id="7" name="Model Improved CNN"/>
          <p:cNvSpPr/>
          <p:nvPr/>
        </p:nvSpPr>
        <p:spPr>
          <a:xfrm>
            <a:off x="3246120" y="1143000"/>
            <a:ext cx="2606040" cy="3291840"/>
          </a:xfrm>
          <a:prstGeom prst="roundRect">
            <a:avLst>
              <a:gd name="adj" fmla="val 2807"/>
            </a:avLst>
          </a:prstGeom>
          <a:solidFill>
            <a:schemeClr val="bg2"/>
          </a:solidFill>
          <a:ln w="12700">
            <a:solidFill>
              <a:schemeClr val="bg2"/>
            </a:solidFill>
            <a:prstDash val="solid"/>
          </a:ln>
        </p:spPr>
      </p:sp>
      <p:sp>
        <p:nvSpPr>
          <p:cNvPr id="8" name="Text 6"/>
          <p:cNvSpPr txBox="1"/>
          <p:nvPr/>
        </p:nvSpPr>
        <p:spPr>
          <a:xfrm>
            <a:off x="3474720" y="1325880"/>
            <a:ext cx="21945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Improved CNN</a:t>
            </a:r>
            <a:endParaRPr lang="en-US" sz="1700" dirty="0"/>
          </a:p>
        </p:txBody>
      </p:sp>
      <p:sp>
        <p:nvSpPr>
          <p:cNvPr id="9" name="Text 7"/>
          <p:cNvSpPr txBox="1"/>
          <p:nvPr/>
        </p:nvSpPr>
        <p:spPr>
          <a:xfrm>
            <a:off x="3474720" y="1719072"/>
            <a:ext cx="2194560" cy="274320"/>
          </a:xfrm>
          <a:prstGeom prst="rect">
            <a:avLst/>
          </a:prstGeom>
          <a:noFill/>
          <a:ln/>
        </p:spPr>
        <p:txBody>
          <a:bodyPr wrap="square" lIns="0" tIns="0" rIns="0" bIns="0" rtlCol="0" anchor="t"/>
          <a:lstStyle/>
          <a:p>
            <a:pPr indent="0" marL="0">
              <a:buNone/>
            </a:pPr>
            <a:r>
              <a:rPr lang="en-US" sz="1150" b="1" dirty="0">
                <a:solidFill>
                  <a:schemeClr val="accent2"/>
                </a:solidFill>
                <a:latin typeface="Calibri" pitchFamily="34" charset="0"/>
                <a:ea typeface="Calibri" pitchFamily="34" charset="-122"/>
                <a:cs typeface="Calibri" pitchFamily="34" charset="-120"/>
              </a:rPr>
              <a:t>0.58 M parameters</a:t>
            </a:r>
            <a:endParaRPr lang="en-US" sz="1150" dirty="0"/>
          </a:p>
        </p:txBody>
      </p:sp>
      <p:sp>
        <p:nvSpPr>
          <p:cNvPr id="10" name="Text 8"/>
          <p:cNvSpPr txBox="1"/>
          <p:nvPr/>
        </p:nvSpPr>
        <p:spPr>
          <a:xfrm>
            <a:off x="3474720" y="2103120"/>
            <a:ext cx="224028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7 convolution layers with batch normalisation and dropout</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Data augmentation: random flips and 90° turns</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Fewer parameters, but learns more general patterns</a:t>
            </a:r>
            <a:endParaRPr lang="en-US" sz="1200" dirty="0"/>
          </a:p>
        </p:txBody>
      </p:sp>
      <p:sp>
        <p:nvSpPr>
          <p:cNvPr id="11" name="Text 9"/>
          <p:cNvSpPr txBox="1"/>
          <p:nvPr/>
        </p:nvSpPr>
        <p:spPr>
          <a:xfrm>
            <a:off x="6172200" y="1143000"/>
            <a:ext cx="2514600" cy="5029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Augmentation: a field seen from space has no ‘up’</a:t>
            </a:r>
            <a:endParaRPr lang="en-US" sz="1300" dirty="0"/>
          </a:p>
        </p:txBody>
      </p:sp>
      <p:pic>
        <p:nvPicPr>
          <p:cNvPr id="12" name="Rotation 0" descr="/home/claude/deck/img/rot0.png">    </p:cNvPr>
          <p:cNvPicPr>
            <a:picLocks noChangeAspect="1"/>
          </p:cNvPicPr>
          <p:nvPr/>
        </p:nvPicPr>
        <p:blipFill>
          <a:blip r:embed="rId1"/>
          <a:stretch>
            <a:fillRect/>
          </a:stretch>
        </p:blipFill>
        <p:spPr>
          <a:xfrm>
            <a:off x="6172200" y="1737360"/>
            <a:ext cx="1143000" cy="1143000"/>
          </a:xfrm>
          <a:prstGeom prst="rect">
            <a:avLst/>
          </a:prstGeom>
        </p:spPr>
      </p:pic>
      <p:pic>
        <p:nvPicPr>
          <p:cNvPr id="13" name="Rotation 1" descr="/home/claude/deck/img/rot1.png">    </p:cNvPr>
          <p:cNvPicPr>
            <a:picLocks noChangeAspect="1"/>
          </p:cNvPicPr>
          <p:nvPr/>
        </p:nvPicPr>
        <p:blipFill>
          <a:blip r:embed="rId2"/>
          <a:stretch>
            <a:fillRect/>
          </a:stretch>
        </p:blipFill>
        <p:spPr>
          <a:xfrm>
            <a:off x="7452360" y="1737360"/>
            <a:ext cx="1143000" cy="1143000"/>
          </a:xfrm>
          <a:prstGeom prst="rect">
            <a:avLst/>
          </a:prstGeom>
        </p:spPr>
      </p:pic>
      <p:pic>
        <p:nvPicPr>
          <p:cNvPr id="14" name="Rotation 2" descr="/home/claude/deck/img/rot2.png">    </p:cNvPr>
          <p:cNvPicPr>
            <a:picLocks noChangeAspect="1"/>
          </p:cNvPicPr>
          <p:nvPr/>
        </p:nvPicPr>
        <p:blipFill>
          <a:blip r:embed="rId3"/>
          <a:stretch>
            <a:fillRect/>
          </a:stretch>
        </p:blipFill>
        <p:spPr>
          <a:xfrm>
            <a:off x="6172200" y="3017520"/>
            <a:ext cx="1143000" cy="1143000"/>
          </a:xfrm>
          <a:prstGeom prst="rect">
            <a:avLst/>
          </a:prstGeom>
        </p:spPr>
      </p:pic>
      <p:pic>
        <p:nvPicPr>
          <p:cNvPr id="15" name="Rotation 3" descr="/home/claude/deck/img/rot3.png">    </p:cNvPr>
          <p:cNvPicPr>
            <a:picLocks noChangeAspect="1"/>
          </p:cNvPicPr>
          <p:nvPr/>
        </p:nvPicPr>
        <p:blipFill>
          <a:blip r:embed="rId4"/>
          <a:stretch>
            <a:fillRect/>
          </a:stretch>
        </p:blipFill>
        <p:spPr>
          <a:xfrm>
            <a:off x="7452360" y="3017520"/>
            <a:ext cx="1143000" cy="1143000"/>
          </a:xfrm>
          <a:prstGeom prst="rect">
            <a:avLst/>
          </a:prstGeom>
        </p:spPr>
      </p:pic>
      <p:sp>
        <p:nvSpPr>
          <p:cNvPr id="16" name="Text 10"/>
          <p:cNvSpPr txBox="1"/>
          <p:nvPr/>
        </p:nvSpPr>
        <p:spPr>
          <a:xfrm>
            <a:off x="6172200" y="4315968"/>
            <a:ext cx="2514600" cy="457200"/>
          </a:xfrm>
          <a:prstGeom prst="rect">
            <a:avLst/>
          </a:prstGeom>
          <a:noFill/>
          <a:ln/>
        </p:spPr>
        <p:txBody>
          <a:bodyPr wrap="square" lIns="0" tIns="0" rIns="0" bIns="0" rtlCol="0" anchor="t"/>
          <a:lstStyle/>
          <a:p>
            <a:pPr indent="0" marL="0">
              <a:buNone/>
            </a:pPr>
            <a:r>
              <a:rPr lang="en-US" sz="1050" dirty="0">
                <a:solidFill>
                  <a:schemeClr val="tx2"/>
                </a:solidFill>
                <a:latin typeface="Calibri" pitchFamily="34" charset="0"/>
                <a:ea typeface="Calibri" pitchFamily="34" charset="-122"/>
                <a:cs typeface="Calibri" pitchFamily="34" charset="-120"/>
              </a:rPr>
              <a:t>Showing turned and flipped copies teaches the model that orientation does not matter.</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Results on the final exam</a:t>
            </a:r>
            <a:endParaRPr lang="en-US" sz="2800" dirty="0"/>
          </a:p>
        </p:txBody>
      </p:sp>
      <p:sp>
        <p:nvSpPr>
          <p:cNvPr id="3" name="Text 1"/>
          <p:cNvSpPr txBox="1"/>
          <p:nvPr/>
        </p:nvSpPr>
        <p:spPr>
          <a:xfrm>
            <a:off x="457200" y="1143000"/>
            <a:ext cx="2377440" cy="68580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{{BASELINE_ACC}}</a:t>
            </a:r>
            <a:endParaRPr lang="en-US" sz="4000" dirty="0"/>
          </a:p>
        </p:txBody>
      </p:sp>
      <p:sp>
        <p:nvSpPr>
          <p:cNvPr id="4" name="Text 2"/>
          <p:cNvSpPr txBox="1"/>
          <p:nvPr/>
        </p:nvSpPr>
        <p:spPr>
          <a:xfrm>
            <a:off x="457200" y="1828800"/>
            <a:ext cx="23774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Baseline CNN accuracy</a:t>
            </a:r>
            <a:endParaRPr lang="en-US" sz="1200" dirty="0"/>
          </a:p>
        </p:txBody>
      </p:sp>
      <p:sp>
        <p:nvSpPr>
          <p:cNvPr id="5" name="Text 3"/>
          <p:cNvSpPr txBox="1"/>
          <p:nvPr/>
        </p:nvSpPr>
        <p:spPr>
          <a:xfrm>
            <a:off x="457200" y="2377440"/>
            <a:ext cx="237744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{{IMPROVED_ACC}}</a:t>
            </a:r>
            <a:endParaRPr lang="en-US" sz="4000" dirty="0"/>
          </a:p>
        </p:txBody>
      </p:sp>
      <p:sp>
        <p:nvSpPr>
          <p:cNvPr id="6" name="Text 4"/>
          <p:cNvSpPr txBox="1"/>
          <p:nvPr/>
        </p:nvSpPr>
        <p:spPr>
          <a:xfrm>
            <a:off x="457200" y="3063240"/>
            <a:ext cx="237744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Improved CNN accuracy</a:t>
            </a:r>
            <a:endParaRPr lang="en-US" sz="1200" dirty="0"/>
          </a:p>
        </p:txBody>
      </p:sp>
      <p:sp>
        <p:nvSpPr>
          <p:cNvPr id="7" name="Text 5"/>
          <p:cNvSpPr txBox="1"/>
          <p:nvPr/>
        </p:nvSpPr>
        <p:spPr>
          <a:xfrm>
            <a:off x="457200" y="3520440"/>
            <a:ext cx="2377440" cy="10058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{{RESULTS_SENTENCE}}</a:t>
            </a:r>
            <a:endParaRPr lang="en-US" sz="1150" dirty="0"/>
          </a:p>
        </p:txBody>
      </p:sp>
      <p:graphicFrame>
        <p:nvGraphicFramePr>
          <p:cNvPr id="8" name="Chart 0" descr=""/>
          <p:cNvGraphicFramePr/>
          <p:nvPr/>
        </p:nvGraphicFramePr>
        <p:xfrm>
          <a:off x="3017520" y="105156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Where the model still gets confused</a:t>
            </a:r>
            <a:endParaRPr lang="en-US" sz="2800" dirty="0"/>
          </a:p>
        </p:txBody>
      </p:sp>
      <p:sp>
        <p:nvSpPr>
          <p:cNvPr id="3" name="IMG:mistake0.png"/>
          <p:cNvSpPr/>
          <p:nvPr/>
        </p:nvSpPr>
        <p:spPr>
          <a:xfrm>
            <a:off x="594360" y="1143000"/>
            <a:ext cx="1600200" cy="1600200"/>
          </a:xfrm>
          <a:prstGeom prst="rect">
            <a:avLst/>
          </a:prstGeom>
          <a:solidFill>
            <a:schemeClr val="bg2"/>
          </a:solidFill>
          <a:ln w="9525">
            <a:solidFill>
              <a:schemeClr val="accent6"/>
            </a:solidFill>
            <a:prstDash val="dash"/>
          </a:ln>
        </p:spPr>
      </p:sp>
      <p:sp>
        <p:nvSpPr>
          <p:cNvPr id="4" name="IMGLABEL:mistake0.png"/>
          <p:cNvSpPr txBox="1"/>
          <p:nvPr/>
        </p:nvSpPr>
        <p:spPr>
          <a:xfrm>
            <a:off x="594360" y="1143000"/>
            <a:ext cx="1600200" cy="1600200"/>
          </a:xfrm>
          <a:prstGeom prst="rect">
            <a:avLst/>
          </a:prstGeom>
          <a:noFill/>
          <a:ln/>
        </p:spPr>
        <p:txBody>
          <a:bodyPr wrap="square" lIns="635" tIns="635" rIns="635" bIns="635" rtlCol="0" anchor="ctr"/>
          <a:lstStyle/>
          <a:p>
            <a:pPr algn="ctr" indent="0" marL="0">
              <a:buNone/>
            </a:pPr>
            <a:r>
              <a:rPr lang="en-US" sz="800" i="1" dirty="0">
                <a:solidFill>
                  <a:schemeClr val="accent6"/>
                </a:solidFill>
              </a:rPr>
              <a:t>filled by make_presentation.py</a:t>
            </a:r>
            <a:endParaRPr lang="en-US" sz="800" dirty="0"/>
          </a:p>
        </p:txBody>
      </p:sp>
      <p:sp>
        <p:nvSpPr>
          <p:cNvPr id="5" name="Text 3"/>
          <p:cNvSpPr txBox="1"/>
          <p:nvPr/>
        </p:nvSpPr>
        <p:spPr>
          <a:xfrm>
            <a:off x="548640" y="2852928"/>
            <a:ext cx="1920240" cy="54864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Really: </a:t>
            </a:r>
            <a:pPr indent="0" marL="0">
              <a:buNone/>
            </a:pPr>
            <a:r>
              <a:rPr lang="en-US" sz="1100" dirty="0">
                <a:solidFill>
                  <a:schemeClr val="tx2"/>
                </a:solidFill>
                <a:latin typeface="Calibri" pitchFamily="34" charset="0"/>
                <a:ea typeface="Calibri" pitchFamily="34" charset="-122"/>
                <a:cs typeface="Calibri" pitchFamily="34" charset="-120"/>
              </a:rPr>
              <a:t>{{M0_TRUE}}</a:t>
            </a:r>
            <a:endParaRPr lang="en-US" sz="1100" dirty="0"/>
          </a:p>
          <a:p>
            <a:pPr indent="0" marL="0">
              <a:buNone/>
            </a:pPr>
            <a:r>
              <a:rPr lang="en-US" sz="1100" b="1" dirty="0">
                <a:solidFill>
                  <a:schemeClr val="accent4"/>
                </a:solidFill>
                <a:latin typeface="Calibri" pitchFamily="34" charset="0"/>
                <a:ea typeface="Calibri" pitchFamily="34" charset="-122"/>
                <a:cs typeface="Calibri" pitchFamily="34" charset="-120"/>
              </a:rPr>
              <a:t>Model said: </a:t>
            </a:r>
            <a:pPr indent="0" marL="0">
              <a:buNone/>
            </a:pPr>
            <a:r>
              <a:rPr lang="en-US" sz="1100" dirty="0">
                <a:solidFill>
                  <a:schemeClr val="accent4"/>
                </a:solidFill>
                <a:latin typeface="Calibri" pitchFamily="34" charset="0"/>
                <a:ea typeface="Calibri" pitchFamily="34" charset="-122"/>
                <a:cs typeface="Calibri" pitchFamily="34" charset="-120"/>
              </a:rPr>
              <a:t>{{M0_PRED}} ({{M0_PROB}})</a:t>
            </a:r>
            <a:endParaRPr lang="en-US" sz="1100" dirty="0"/>
          </a:p>
        </p:txBody>
      </p:sp>
      <p:sp>
        <p:nvSpPr>
          <p:cNvPr id="6" name="IMG:mistake1.png"/>
          <p:cNvSpPr/>
          <p:nvPr/>
        </p:nvSpPr>
        <p:spPr>
          <a:xfrm>
            <a:off x="2715768" y="1143000"/>
            <a:ext cx="1600200" cy="1600200"/>
          </a:xfrm>
          <a:prstGeom prst="rect">
            <a:avLst/>
          </a:prstGeom>
          <a:solidFill>
            <a:schemeClr val="bg2"/>
          </a:solidFill>
          <a:ln w="9525">
            <a:solidFill>
              <a:schemeClr val="accent6"/>
            </a:solidFill>
            <a:prstDash val="dash"/>
          </a:ln>
        </p:spPr>
      </p:sp>
      <p:sp>
        <p:nvSpPr>
          <p:cNvPr id="7" name="IMGLABEL:mistake1.png"/>
          <p:cNvSpPr txBox="1"/>
          <p:nvPr/>
        </p:nvSpPr>
        <p:spPr>
          <a:xfrm>
            <a:off x="2715768" y="1143000"/>
            <a:ext cx="1600200" cy="1600200"/>
          </a:xfrm>
          <a:prstGeom prst="rect">
            <a:avLst/>
          </a:prstGeom>
          <a:noFill/>
          <a:ln/>
        </p:spPr>
        <p:txBody>
          <a:bodyPr wrap="square" lIns="635" tIns="635" rIns="635" bIns="635" rtlCol="0" anchor="ctr"/>
          <a:lstStyle/>
          <a:p>
            <a:pPr algn="ctr" indent="0" marL="0">
              <a:buNone/>
            </a:pPr>
            <a:r>
              <a:rPr lang="en-US" sz="800" i="1" dirty="0">
                <a:solidFill>
                  <a:schemeClr val="accent6"/>
                </a:solidFill>
              </a:rPr>
              <a:t>filled by make_presentation.py</a:t>
            </a:r>
            <a:endParaRPr lang="en-US" sz="800" dirty="0"/>
          </a:p>
        </p:txBody>
      </p:sp>
      <p:sp>
        <p:nvSpPr>
          <p:cNvPr id="8" name="Text 6"/>
          <p:cNvSpPr txBox="1"/>
          <p:nvPr/>
        </p:nvSpPr>
        <p:spPr>
          <a:xfrm>
            <a:off x="2670048" y="2852928"/>
            <a:ext cx="1920240" cy="54864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Really: </a:t>
            </a:r>
            <a:pPr indent="0" marL="0">
              <a:buNone/>
            </a:pPr>
            <a:r>
              <a:rPr lang="en-US" sz="1100" dirty="0">
                <a:solidFill>
                  <a:schemeClr val="tx2"/>
                </a:solidFill>
                <a:latin typeface="Calibri" pitchFamily="34" charset="0"/>
                <a:ea typeface="Calibri" pitchFamily="34" charset="-122"/>
                <a:cs typeface="Calibri" pitchFamily="34" charset="-120"/>
              </a:rPr>
              <a:t>{{M1_TRUE}}</a:t>
            </a:r>
            <a:endParaRPr lang="en-US" sz="1100" dirty="0"/>
          </a:p>
          <a:p>
            <a:pPr indent="0" marL="0">
              <a:buNone/>
            </a:pPr>
            <a:r>
              <a:rPr lang="en-US" sz="1100" b="1" dirty="0">
                <a:solidFill>
                  <a:schemeClr val="accent4"/>
                </a:solidFill>
                <a:latin typeface="Calibri" pitchFamily="34" charset="0"/>
                <a:ea typeface="Calibri" pitchFamily="34" charset="-122"/>
                <a:cs typeface="Calibri" pitchFamily="34" charset="-120"/>
              </a:rPr>
              <a:t>Model said: </a:t>
            </a:r>
            <a:pPr indent="0" marL="0">
              <a:buNone/>
            </a:pPr>
            <a:r>
              <a:rPr lang="en-US" sz="1100" dirty="0">
                <a:solidFill>
                  <a:schemeClr val="accent4"/>
                </a:solidFill>
                <a:latin typeface="Calibri" pitchFamily="34" charset="0"/>
                <a:ea typeface="Calibri" pitchFamily="34" charset="-122"/>
                <a:cs typeface="Calibri" pitchFamily="34" charset="-120"/>
              </a:rPr>
              <a:t>{{M1_PRED}} ({{M1_PROB}})</a:t>
            </a:r>
            <a:endParaRPr lang="en-US" sz="1100" dirty="0"/>
          </a:p>
        </p:txBody>
      </p:sp>
      <p:sp>
        <p:nvSpPr>
          <p:cNvPr id="9" name="IMG:mistake2.png"/>
          <p:cNvSpPr/>
          <p:nvPr/>
        </p:nvSpPr>
        <p:spPr>
          <a:xfrm>
            <a:off x="4837176" y="1143000"/>
            <a:ext cx="1600200" cy="1600200"/>
          </a:xfrm>
          <a:prstGeom prst="rect">
            <a:avLst/>
          </a:prstGeom>
          <a:solidFill>
            <a:schemeClr val="bg2"/>
          </a:solidFill>
          <a:ln w="9525">
            <a:solidFill>
              <a:schemeClr val="accent6"/>
            </a:solidFill>
            <a:prstDash val="dash"/>
          </a:ln>
        </p:spPr>
      </p:sp>
      <p:sp>
        <p:nvSpPr>
          <p:cNvPr id="10" name="IMGLABEL:mistake2.png"/>
          <p:cNvSpPr txBox="1"/>
          <p:nvPr/>
        </p:nvSpPr>
        <p:spPr>
          <a:xfrm>
            <a:off x="4837176" y="1143000"/>
            <a:ext cx="1600200" cy="1600200"/>
          </a:xfrm>
          <a:prstGeom prst="rect">
            <a:avLst/>
          </a:prstGeom>
          <a:noFill/>
          <a:ln/>
        </p:spPr>
        <p:txBody>
          <a:bodyPr wrap="square" lIns="635" tIns="635" rIns="635" bIns="635" rtlCol="0" anchor="ctr"/>
          <a:lstStyle/>
          <a:p>
            <a:pPr algn="ctr" indent="0" marL="0">
              <a:buNone/>
            </a:pPr>
            <a:r>
              <a:rPr lang="en-US" sz="800" i="1" dirty="0">
                <a:solidFill>
                  <a:schemeClr val="accent6"/>
                </a:solidFill>
              </a:rPr>
              <a:t>filled by make_presentation.py</a:t>
            </a:r>
            <a:endParaRPr lang="en-US" sz="800" dirty="0"/>
          </a:p>
        </p:txBody>
      </p:sp>
      <p:sp>
        <p:nvSpPr>
          <p:cNvPr id="11" name="Text 9"/>
          <p:cNvSpPr txBox="1"/>
          <p:nvPr/>
        </p:nvSpPr>
        <p:spPr>
          <a:xfrm>
            <a:off x="4791456" y="2852928"/>
            <a:ext cx="1920240" cy="54864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Really: </a:t>
            </a:r>
            <a:pPr indent="0" marL="0">
              <a:buNone/>
            </a:pPr>
            <a:r>
              <a:rPr lang="en-US" sz="1100" dirty="0">
                <a:solidFill>
                  <a:schemeClr val="tx2"/>
                </a:solidFill>
                <a:latin typeface="Calibri" pitchFamily="34" charset="0"/>
                <a:ea typeface="Calibri" pitchFamily="34" charset="-122"/>
                <a:cs typeface="Calibri" pitchFamily="34" charset="-120"/>
              </a:rPr>
              <a:t>{{M2_TRUE}}</a:t>
            </a:r>
            <a:endParaRPr lang="en-US" sz="1100" dirty="0"/>
          </a:p>
          <a:p>
            <a:pPr indent="0" marL="0">
              <a:buNone/>
            </a:pPr>
            <a:r>
              <a:rPr lang="en-US" sz="1100" b="1" dirty="0">
                <a:solidFill>
                  <a:schemeClr val="accent4"/>
                </a:solidFill>
                <a:latin typeface="Calibri" pitchFamily="34" charset="0"/>
                <a:ea typeface="Calibri" pitchFamily="34" charset="-122"/>
                <a:cs typeface="Calibri" pitchFamily="34" charset="-120"/>
              </a:rPr>
              <a:t>Model said: </a:t>
            </a:r>
            <a:pPr indent="0" marL="0">
              <a:buNone/>
            </a:pPr>
            <a:r>
              <a:rPr lang="en-US" sz="1100" dirty="0">
                <a:solidFill>
                  <a:schemeClr val="accent4"/>
                </a:solidFill>
                <a:latin typeface="Calibri" pitchFamily="34" charset="0"/>
                <a:ea typeface="Calibri" pitchFamily="34" charset="-122"/>
                <a:cs typeface="Calibri" pitchFamily="34" charset="-120"/>
              </a:rPr>
              <a:t>{{M2_PRED}} ({{M2_PROB}})</a:t>
            </a:r>
            <a:endParaRPr lang="en-US" sz="1100" dirty="0"/>
          </a:p>
        </p:txBody>
      </p:sp>
      <p:sp>
        <p:nvSpPr>
          <p:cNvPr id="12" name="IMG:mistake3.png"/>
          <p:cNvSpPr/>
          <p:nvPr/>
        </p:nvSpPr>
        <p:spPr>
          <a:xfrm>
            <a:off x="6958584" y="1143000"/>
            <a:ext cx="1600200" cy="1600200"/>
          </a:xfrm>
          <a:prstGeom prst="rect">
            <a:avLst/>
          </a:prstGeom>
          <a:solidFill>
            <a:schemeClr val="bg2"/>
          </a:solidFill>
          <a:ln w="9525">
            <a:solidFill>
              <a:schemeClr val="accent6"/>
            </a:solidFill>
            <a:prstDash val="dash"/>
          </a:ln>
        </p:spPr>
      </p:sp>
      <p:sp>
        <p:nvSpPr>
          <p:cNvPr id="13" name="IMGLABEL:mistake3.png"/>
          <p:cNvSpPr txBox="1"/>
          <p:nvPr/>
        </p:nvSpPr>
        <p:spPr>
          <a:xfrm>
            <a:off x="6958584" y="1143000"/>
            <a:ext cx="1600200" cy="1600200"/>
          </a:xfrm>
          <a:prstGeom prst="rect">
            <a:avLst/>
          </a:prstGeom>
          <a:noFill/>
          <a:ln/>
        </p:spPr>
        <p:txBody>
          <a:bodyPr wrap="square" lIns="635" tIns="635" rIns="635" bIns="635" rtlCol="0" anchor="ctr"/>
          <a:lstStyle/>
          <a:p>
            <a:pPr algn="ctr" indent="0" marL="0">
              <a:buNone/>
            </a:pPr>
            <a:r>
              <a:rPr lang="en-US" sz="800" i="1" dirty="0">
                <a:solidFill>
                  <a:schemeClr val="accent6"/>
                </a:solidFill>
              </a:rPr>
              <a:t>filled by make_presentation.py</a:t>
            </a:r>
            <a:endParaRPr lang="en-US" sz="800" dirty="0"/>
          </a:p>
        </p:txBody>
      </p:sp>
      <p:sp>
        <p:nvSpPr>
          <p:cNvPr id="14" name="Text 12"/>
          <p:cNvSpPr txBox="1"/>
          <p:nvPr/>
        </p:nvSpPr>
        <p:spPr>
          <a:xfrm>
            <a:off x="6912864" y="2852928"/>
            <a:ext cx="1920240" cy="54864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Really: </a:t>
            </a:r>
            <a:pPr indent="0" marL="0">
              <a:buNone/>
            </a:pPr>
            <a:r>
              <a:rPr lang="en-US" sz="1100" dirty="0">
                <a:solidFill>
                  <a:schemeClr val="tx2"/>
                </a:solidFill>
                <a:latin typeface="Calibri" pitchFamily="34" charset="0"/>
                <a:ea typeface="Calibri" pitchFamily="34" charset="-122"/>
                <a:cs typeface="Calibri" pitchFamily="34" charset="-120"/>
              </a:rPr>
              <a:t>{{M3_TRUE}}</a:t>
            </a:r>
            <a:endParaRPr lang="en-US" sz="1100" dirty="0"/>
          </a:p>
          <a:p>
            <a:pPr indent="0" marL="0">
              <a:buNone/>
            </a:pPr>
            <a:r>
              <a:rPr lang="en-US" sz="1100" b="1" dirty="0">
                <a:solidFill>
                  <a:schemeClr val="accent4"/>
                </a:solidFill>
                <a:latin typeface="Calibri" pitchFamily="34" charset="0"/>
                <a:ea typeface="Calibri" pitchFamily="34" charset="-122"/>
                <a:cs typeface="Calibri" pitchFamily="34" charset="-120"/>
              </a:rPr>
              <a:t>Model said: </a:t>
            </a:r>
            <a:pPr indent="0" marL="0">
              <a:buNone/>
            </a:pPr>
            <a:r>
              <a:rPr lang="en-US" sz="1100" dirty="0">
                <a:solidFill>
                  <a:schemeClr val="accent4"/>
                </a:solidFill>
                <a:latin typeface="Calibri" pitchFamily="34" charset="0"/>
                <a:ea typeface="Calibri" pitchFamily="34" charset="-122"/>
                <a:cs typeface="Calibri" pitchFamily="34" charset="-120"/>
              </a:rPr>
              <a:t>{{M3_PRED}} ({{M3_PROB}})</a:t>
            </a:r>
            <a:endParaRPr lang="en-US" sz="1100" dirty="0"/>
          </a:p>
        </p:txBody>
      </p:sp>
      <p:sp>
        <p:nvSpPr>
          <p:cNvPr id="15" name="Text 13"/>
          <p:cNvSpPr txBox="1"/>
          <p:nvPr/>
        </p:nvSpPr>
        <p:spPr>
          <a:xfrm>
            <a:off x="457200" y="3611880"/>
            <a:ext cx="8229600"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{{MISTAKES_SENTENCE}}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What I learned and what comes next</a:t>
            </a:r>
            <a:endParaRPr lang="en-US" sz="2800" dirty="0"/>
          </a:p>
        </p:txBody>
      </p:sp>
      <p:sp>
        <p:nvSpPr>
          <p:cNvPr id="3" name="Lessons"/>
          <p:cNvSpPr/>
          <p:nvPr/>
        </p:nvSpPr>
        <p:spPr>
          <a:xfrm>
            <a:off x="457200" y="1143000"/>
            <a:ext cx="4023360" cy="3337560"/>
          </a:xfrm>
          <a:prstGeom prst="roundRect">
            <a:avLst>
              <a:gd name="adj" fmla="val 2192"/>
            </a:avLst>
          </a:prstGeom>
          <a:solidFill>
            <a:schemeClr val="bg2"/>
          </a:solidFill>
          <a:ln w="12700">
            <a:solidFill>
              <a:schemeClr val="bg2"/>
            </a:solidFill>
            <a:prstDash val="solid"/>
          </a:ln>
        </p:spPr>
      </p:sp>
      <p:sp>
        <p:nvSpPr>
          <p:cNvPr id="4" name="Icon circle Lessons"/>
          <p:cNvSpPr/>
          <p:nvPr/>
        </p:nvSpPr>
        <p:spPr>
          <a:xfrm>
            <a:off x="685800" y="1325880"/>
            <a:ext cx="548640" cy="548640"/>
          </a:xfrm>
          <a:prstGeom prst="ellipse">
            <a:avLst/>
          </a:prstGeom>
          <a:solidFill>
            <a:schemeClr val="accent2"/>
          </a:solidFill>
          <a:ln w="12700">
            <a:solidFill>
              <a:schemeClr val="accent2"/>
            </a:solidFill>
            <a:prstDash val="solid"/>
          </a:ln>
        </p:spPr>
      </p:sp>
      <p:pic>
        <p:nvPicPr>
          <p:cNvPr id="5" name="Icon Lessons" descr="preencoded.png">    </p:cNvPr>
          <p:cNvPicPr>
            <a:picLocks noChangeAspect="1"/>
          </p:cNvPicPr>
          <p:nvPr/>
        </p:nvPicPr>
        <p:blipFill>
          <a:blip r:embed="rId1"/>
          <a:stretch>
            <a:fillRect/>
          </a:stretch>
        </p:blipFill>
        <p:spPr>
          <a:xfrm>
            <a:off x="822960" y="1463040"/>
            <a:ext cx="274320" cy="274320"/>
          </a:xfrm>
          <a:prstGeom prst="rect">
            <a:avLst/>
          </a:prstGeom>
        </p:spPr>
      </p:pic>
      <p:sp>
        <p:nvSpPr>
          <p:cNvPr id="6" name="Text 3"/>
          <p:cNvSpPr txBox="1"/>
          <p:nvPr/>
        </p:nvSpPr>
        <p:spPr>
          <a:xfrm>
            <a:off x="1417320" y="1417320"/>
            <a:ext cx="274320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Lessons</a:t>
            </a:r>
            <a:endParaRPr lang="en-US" sz="1700" dirty="0"/>
          </a:p>
        </p:txBody>
      </p:sp>
      <p:sp>
        <p:nvSpPr>
          <p:cNvPr id="7" name="Text 4"/>
          <p:cNvSpPr txBox="1"/>
          <p:nvPr/>
        </p:nvSpPr>
        <p:spPr>
          <a:xfrm>
            <a:off x="731520" y="2103120"/>
            <a:ext cx="3520440" cy="2240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Start simple: a baseline makes every improvement measurable</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Use knowledge about the data: satellite images have no ‘up’</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Keep a test set locked away to get an honest score</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Errors teach more than the headline accuracy</a:t>
            </a:r>
            <a:endParaRPr lang="en-US" sz="1250" dirty="0"/>
          </a:p>
        </p:txBody>
      </p:sp>
      <p:sp>
        <p:nvSpPr>
          <p:cNvPr id="8" name="Next steps"/>
          <p:cNvSpPr/>
          <p:nvPr/>
        </p:nvSpPr>
        <p:spPr>
          <a:xfrm>
            <a:off x="4663440" y="1143000"/>
            <a:ext cx="4023360" cy="3337560"/>
          </a:xfrm>
          <a:prstGeom prst="roundRect">
            <a:avLst>
              <a:gd name="adj" fmla="val 2192"/>
            </a:avLst>
          </a:prstGeom>
          <a:solidFill>
            <a:schemeClr val="bg2"/>
          </a:solidFill>
          <a:ln w="12700">
            <a:solidFill>
              <a:schemeClr val="bg2"/>
            </a:solidFill>
            <a:prstDash val="solid"/>
          </a:ln>
        </p:spPr>
      </p:sp>
      <p:sp>
        <p:nvSpPr>
          <p:cNvPr id="9" name="Icon circle Next steps"/>
          <p:cNvSpPr/>
          <p:nvPr/>
        </p:nvSpPr>
        <p:spPr>
          <a:xfrm>
            <a:off x="4892040" y="1325880"/>
            <a:ext cx="548640" cy="548640"/>
          </a:xfrm>
          <a:prstGeom prst="ellipse">
            <a:avLst/>
          </a:prstGeom>
          <a:solidFill>
            <a:schemeClr val="accent1"/>
          </a:solidFill>
          <a:ln w="12700">
            <a:solidFill>
              <a:schemeClr val="accent1"/>
            </a:solidFill>
            <a:prstDash val="solid"/>
          </a:ln>
        </p:spPr>
      </p:sp>
      <p:pic>
        <p:nvPicPr>
          <p:cNvPr id="10" name="Icon Next steps" descr="preencoded.png">    </p:cNvPr>
          <p:cNvPicPr>
            <a:picLocks noChangeAspect="1"/>
          </p:cNvPicPr>
          <p:nvPr/>
        </p:nvPicPr>
        <p:blipFill>
          <a:blip r:embed="rId2"/>
          <a:stretch>
            <a:fillRect/>
          </a:stretch>
        </p:blipFill>
        <p:spPr>
          <a:xfrm>
            <a:off x="5029200" y="1463040"/>
            <a:ext cx="274320" cy="274320"/>
          </a:xfrm>
          <a:prstGeom prst="rect">
            <a:avLst/>
          </a:prstGeom>
        </p:spPr>
      </p:pic>
      <p:sp>
        <p:nvSpPr>
          <p:cNvPr id="11" name="Text 7"/>
          <p:cNvSpPr txBox="1"/>
          <p:nvPr/>
        </p:nvSpPr>
        <p:spPr>
          <a:xfrm>
            <a:off x="5623560" y="1417320"/>
            <a:ext cx="274320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Next steps</a:t>
            </a:r>
            <a:endParaRPr lang="en-US" sz="1700" dirty="0"/>
          </a:p>
        </p:txBody>
      </p:sp>
      <p:sp>
        <p:nvSpPr>
          <p:cNvPr id="12" name="Text 8"/>
          <p:cNvSpPr txBox="1"/>
          <p:nvPr/>
        </p:nvSpPr>
        <p:spPr>
          <a:xfrm>
            <a:off x="4937760" y="2103120"/>
            <a:ext cx="3520440" cy="2240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Transfer learning from a large pretrained network</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Use all 13 Sentinel-2 colour bands, not just RGB</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Explain predictions with saliency maps</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Package the model as a small web demo</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914400"/>
          </a:xfrm>
          <a:prstGeom prst="rect">
            <a:avLst/>
          </a:prstGeom>
          <a:noFill/>
          <a:ln/>
        </p:spPr>
        <p:txBody>
          <a:bodyPr wrap="square" lIns="0" tIns="0" rIns="0" bIns="0" rtlCol="0"/>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2194560"/>
            <a:ext cx="8046720" cy="2194560"/>
          </a:xfrm>
          <a:prstGeom prst="rect">
            <a:avLst/>
          </a:prstGeom>
          <a:noFill/>
          <a:ln/>
        </p:spPr>
        <p:txBody>
          <a:bodyPr wrap="square" lIns="0" tIns="0" rIns="0" bIns="0" rtlCol="0" anchor="t"/>
          <a:lstStyle/>
          <a:p>
            <a:pPr indent="0" marL="0">
              <a:buNone/>
            </a:pPr>
            <a:r>
              <a:rPr lang="en-US" sz="1600" dirty="0">
                <a:solidFill>
                  <a:schemeClr val="bg2"/>
                </a:solidFill>
              </a:rPr>
              <a:t>Code, data instructions and all results:</a:t>
            </a:r>
            <a:endParaRPr lang="en-US" sz="1600" dirty="0"/>
          </a:p>
          <a:p>
            <a:pPr indent="0" marL="0">
              <a:buNone/>
            </a:pPr>
            <a:r>
              <a:rPr lang="en-US" sz="2000" b="1" dirty="0">
                <a:solidFill>
                  <a:schemeClr val="accent1"/>
                </a:solidFill>
              </a:rPr>
              <a:t>github.com/MSEldeeb</a:t>
            </a:r>
            <a:endParaRPr lang="en-US" sz="1600" dirty="0"/>
          </a:p>
          <a:p>
            <a:pPr indent="0" marL="0">
              <a:buNone/>
            </a:pPr>
            <a:r>
              <a:rPr lang="en-US" sz="1600" dirty="0">
                <a:solidFill>
                  <a:schemeClr val="bg2"/>
                </a:solidFill>
              </a:rPr>
              <a:t> </a:t>
            </a:r>
            <a:endParaRPr lang="en-US" sz="1600" dirty="0"/>
          </a:p>
          <a:p>
            <a:pPr indent="0" marL="0">
              <a:buNone/>
            </a:pPr>
            <a:r>
              <a:rPr lang="en-US" sz="1300" dirty="0">
                <a:solidFill>
                  <a:schemeClr val="bg2"/>
                </a:solidFill>
              </a:rPr>
              <a:t>Mohamed Sabry Eldeeb, PhD  ·  mohamed.sabry.eldeeb@gmail.com</a:t>
            </a:r>
            <a:endParaRPr lang="en-US" sz="1600" dirty="0"/>
          </a:p>
        </p:txBody>
      </p:sp>
    </p:spTree>
  </p:cSld>
  <p:clrMapOvr>
    <a:masterClrMapping/>
  </p:clrMapOvr>
</p:sld>
</file>

<file path=ppt/theme/theme1.xml><?xml version="1.0" encoding="utf-8"?>
<a:theme xmlns:a="http://schemas.openxmlformats.org/drawingml/2006/main" name="Satellite Fields">
  <a:themeElements>
    <a:clrScheme name="Satellite Fields">
      <a:dk1>
        <a:srgbClr val="16262E"/>
      </a:dk1>
      <a:lt1>
        <a:srgbClr val="FFFFFF"/>
      </a:lt1>
      <a:dk2>
        <a:srgbClr val="3D4F57"/>
      </a:dk2>
      <a:lt2>
        <a:srgbClr val="EEF3F1"/>
      </a:lt2>
      <a:accent1>
        <a:srgbClr val="D9A441"/>
      </a:accent1>
      <a:accent2>
        <a:srgbClr val="2F7F6F"/>
      </a:accent2>
      <a:accent3>
        <a:srgbClr val="4F86B5"/>
      </a:accent3>
      <a:accent4>
        <a:srgbClr val="B5523B"/>
      </a:accent4>
      <a:accent5>
        <a:srgbClr val="7A8F4E"/>
      </a:accent5>
      <a:accent6>
        <a:srgbClr val="8A959B"/>
      </a:accent6>
      <a:hlink>
        <a:srgbClr val="2F7F6F"/>
      </a:hlink>
      <a:folHlink>
        <a:srgbClr val="4F86B5"/>
      </a:folHlink>
    </a:clrScheme>
    <a:fontScheme name="Satellite Fiel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a computer to read satellite images</dc:title>
  <dc:subject>PptxGenJS Presentation</dc:subject>
  <dc:creator>Mohamed Sabry Eldeeb</dc:creator>
  <cp:lastModifiedBy>Mohamed Sabry Eldeeb</cp:lastModifiedBy>
  <cp:revision>1</cp:revision>
  <dcterms:created xsi:type="dcterms:W3CDTF">2026-10-05T17:48:06Z</dcterms:created>
  <dcterms:modified xsi:type="dcterms:W3CDTF">2026-10-05T17:48:06Z</dcterms:modified>
</cp:coreProperties>
</file>